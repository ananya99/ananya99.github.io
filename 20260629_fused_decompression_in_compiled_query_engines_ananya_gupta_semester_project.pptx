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669088" cy="9753600"/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A4A3A4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00"/>
    <p:restoredTop sz="94661"/>
  </p:normalViewPr>
  <p:slideViewPr>
    <p:cSldViewPr snapToGrid="0">
      <p:cViewPr varScale="1">
        <p:scale>
          <a:sx n="152" d="100"/>
          <a:sy n="152" d="100"/>
        </p:scale>
        <p:origin x="608" y="176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84138" y="731838"/>
            <a:ext cx="6502400" cy="3657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 bwMode="auto">
          <a:xfrm>
            <a:off x="666909" y="4632960"/>
            <a:ext cx="533527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" name="Google Shape;40;g350f890a472_1_0:notes"/>
          <p:cNvSpPr txBox="1">
            <a:spLocks noGrp="1"/>
          </p:cNvSpPr>
          <p:nvPr>
            <p:ph type="body" idx="1"/>
          </p:nvPr>
        </p:nvSpPr>
        <p:spPr bwMode="auto">
          <a:xfrm>
            <a:off x="666909" y="4633584"/>
            <a:ext cx="5335200" cy="43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58749" indent="0">
              <a:buSzPts val="1100"/>
              <a:buNone/>
              <a:defRPr/>
            </a:pPr>
            <a:endParaRPr/>
          </a:p>
        </p:txBody>
      </p:sp>
      <p:sp>
        <p:nvSpPr>
          <p:cNvPr id="41" name="Google Shape;41;g350f890a472_1_0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84138" y="731838"/>
            <a:ext cx="6500812" cy="3657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lnSpc>
                <a:spcPct val="108000"/>
              </a:lnSpc>
              <a:defRPr/>
            </a:pPr>
            <a:endParaRPr lang="en-US" sz="1100">
              <a:solidFill>
                <a:srgbClr val="444B57"/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0" y="1597820"/>
            <a:ext cx="9144000" cy="1102519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0" y="2914650"/>
            <a:ext cx="9144000" cy="131445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pic>
        <p:nvPicPr>
          <p:cNvPr id="24" name="Picture 23" descr="dias_color_proposals_0142_3D_medium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914400" y="4485146"/>
            <a:ext cx="1371600" cy="53335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6572250" y="4343398"/>
            <a:ext cx="1885950" cy="81684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0" y="240632"/>
            <a:ext cx="9144000" cy="527324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457200" y="971550"/>
            <a:ext cx="8229600" cy="362102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lang="en-US"/>
            </a:lvl1pPr>
            <a:lvl2pPr marL="411480">
              <a:defRPr lang="en-US"/>
            </a:lvl2pPr>
            <a:lvl3pPr marL="640080">
              <a:defRPr/>
            </a:lvl3pPr>
            <a:lvl4pPr marL="914400">
              <a:defRPr/>
            </a:lvl4pPr>
            <a:lvl5pPr marL="1234440"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35B54189-C436-47D0-AC37-8484B13A8E13}" type="slidenum">
              <a:rPr lang="en-US"/>
              <a:t>‹#›</a:t>
            </a:fld>
            <a:endParaRPr lang="en-US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0" y="4566377"/>
            <a:ext cx="9144000" cy="45958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1" i="0">
                <a:solidFill>
                  <a:srgbClr val="B51F1F"/>
                </a:solidFill>
              </a:defRPr>
            </a:lvl1pPr>
          </a:lstStyle>
          <a:p>
            <a:pPr lvl="0">
              <a:defRPr/>
            </a:pPr>
            <a:r>
              <a:rPr lang="en-US"/>
              <a:t>Click to add punchline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le and Char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 bwMode="auto">
          <a:xfrm>
            <a:off x="457200" y="972057"/>
            <a:ext cx="8229600" cy="362102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/>
              <a:t>Click icon to add chart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4683919"/>
            <a:ext cx="2438400" cy="35718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83343F-3840-485D-A731-06527D2D3B63}" type="slidenum">
              <a:rPr lang="en-US"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 bwMode="auto">
          <a:xfrm>
            <a:off x="0" y="240632"/>
            <a:ext cx="9144000" cy="527324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0" y="4567391"/>
            <a:ext cx="9144000" cy="45958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1" i="0">
                <a:solidFill>
                  <a:srgbClr val="B51F1F"/>
                </a:solidFill>
              </a:defRPr>
            </a:lvl1pPr>
          </a:lstStyle>
          <a:p>
            <a:pPr lvl="0">
              <a:defRPr/>
            </a:pPr>
            <a:r>
              <a:rPr lang="en-US"/>
              <a:t>Click to add punchline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0" y="123868"/>
            <a:ext cx="9144000" cy="70788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4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93E970BD-9972-4D08-B83E-9264E792A2B8}" type="slidenum">
              <a:rPr lang="en-US"/>
              <a:t>‹#›</a:t>
            </a:fld>
            <a:endParaRPr lang="en-US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0" y="4571494"/>
            <a:ext cx="9144000" cy="45958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1" i="0">
                <a:solidFill>
                  <a:srgbClr val="B51F1F"/>
                </a:solidFill>
              </a:defRPr>
            </a:lvl1pPr>
          </a:lstStyle>
          <a:p>
            <a:pPr lvl="0">
              <a:defRPr/>
            </a:pPr>
            <a:r>
              <a:rPr lang="en-US"/>
              <a:t>Click to add punchline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>
          <a:xfrm>
            <a:off x="3581400" y="4629150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43FC239-7393-457C-9CC3-689C6419CA6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auto">
          <a:xfrm>
            <a:off x="0" y="-1"/>
            <a:ext cx="9144000" cy="240030"/>
          </a:xfrm>
          <a:prstGeom prst="rect">
            <a:avLst/>
          </a:prstGeom>
          <a:solidFill>
            <a:srgbClr val="B51F1F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1050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185423"/>
            <a:ext cx="9144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71550"/>
            <a:ext cx="8229600" cy="3712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8111317" y="-103000"/>
            <a:ext cx="1048325" cy="453876"/>
          </a:xfrm>
          <a:prstGeom prst="rect">
            <a:avLst/>
          </a:prstGeom>
        </p:spPr>
      </p:pic>
      <p:pic>
        <p:nvPicPr>
          <p:cNvPr id="31" name="Picture 30" descr="dias_color_proposals_0142_3D_medium.jpg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66675" y="-15255"/>
            <a:ext cx="800100" cy="311123"/>
          </a:xfrm>
          <a:prstGeom prst="rect">
            <a:avLst/>
          </a:prstGeom>
        </p:spPr>
      </p:pic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919"/>
            <a:ext cx="24384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E150ECFD-5807-44D9-AF3B-3260B807F6A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dt="0"/>
  <p:txStyles>
    <p:titleStyle>
      <a:lvl1pPr algn="ctr">
        <a:spcBef>
          <a:spcPts val="0"/>
        </a:spcBef>
        <a:spcAft>
          <a:spcPts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>
        <a:spcBef>
          <a:spcPts val="0"/>
        </a:spcBef>
        <a:spcAft>
          <a:spcPts val="0"/>
        </a:spcAft>
        <a:defRPr sz="3300">
          <a:solidFill>
            <a:schemeClr val="tx2"/>
          </a:solidFill>
          <a:latin typeface="Calibri"/>
          <a:cs typeface="Arial"/>
        </a:defRPr>
      </a:lvl2pPr>
      <a:lvl3pPr algn="l">
        <a:spcBef>
          <a:spcPts val="0"/>
        </a:spcBef>
        <a:spcAft>
          <a:spcPts val="0"/>
        </a:spcAft>
        <a:defRPr sz="3300">
          <a:solidFill>
            <a:schemeClr val="tx2"/>
          </a:solidFill>
          <a:latin typeface="Calibri"/>
          <a:cs typeface="Arial"/>
        </a:defRPr>
      </a:lvl3pPr>
      <a:lvl4pPr algn="l">
        <a:spcBef>
          <a:spcPts val="0"/>
        </a:spcBef>
        <a:spcAft>
          <a:spcPts val="0"/>
        </a:spcAft>
        <a:defRPr sz="3300">
          <a:solidFill>
            <a:schemeClr val="tx2"/>
          </a:solidFill>
          <a:latin typeface="Calibri"/>
          <a:cs typeface="Arial"/>
        </a:defRPr>
      </a:lvl4pPr>
      <a:lvl5pPr algn="l">
        <a:spcBef>
          <a:spcPts val="0"/>
        </a:spcBef>
        <a:spcAft>
          <a:spcPts val="0"/>
        </a:spcAft>
        <a:defRPr sz="3300">
          <a:solidFill>
            <a:schemeClr val="tx2"/>
          </a:solidFill>
          <a:latin typeface="Calibri"/>
          <a:cs typeface="Arial"/>
        </a:defRPr>
      </a:lvl5pPr>
      <a:lvl6pPr marL="342900" algn="l">
        <a:spcBef>
          <a:spcPts val="0"/>
        </a:spcBef>
        <a:spcAft>
          <a:spcPts val="0"/>
        </a:spcAft>
        <a:defRPr sz="3300">
          <a:solidFill>
            <a:schemeClr val="tx2"/>
          </a:solidFill>
          <a:latin typeface="Calibri"/>
          <a:cs typeface="Arial"/>
        </a:defRPr>
      </a:lvl6pPr>
      <a:lvl7pPr marL="685800" algn="l">
        <a:spcBef>
          <a:spcPts val="0"/>
        </a:spcBef>
        <a:spcAft>
          <a:spcPts val="0"/>
        </a:spcAft>
        <a:defRPr sz="3300">
          <a:solidFill>
            <a:schemeClr val="tx2"/>
          </a:solidFill>
          <a:latin typeface="Calibri"/>
          <a:cs typeface="Arial"/>
        </a:defRPr>
      </a:lvl7pPr>
      <a:lvl8pPr marL="1028700" algn="l">
        <a:spcBef>
          <a:spcPts val="0"/>
        </a:spcBef>
        <a:spcAft>
          <a:spcPts val="0"/>
        </a:spcAft>
        <a:defRPr sz="3300">
          <a:solidFill>
            <a:schemeClr val="tx2"/>
          </a:solidFill>
          <a:latin typeface="Calibri"/>
          <a:cs typeface="Arial"/>
        </a:defRPr>
      </a:lvl8pPr>
      <a:lvl9pPr marL="1371600" algn="l">
        <a:spcBef>
          <a:spcPts val="0"/>
        </a:spcBef>
        <a:spcAft>
          <a:spcPts val="0"/>
        </a:spcAft>
        <a:defRPr sz="3300">
          <a:solidFill>
            <a:schemeClr val="tx2"/>
          </a:solidFill>
          <a:latin typeface="Calibri"/>
          <a:cs typeface="Arial"/>
        </a:defRPr>
      </a:lvl9pPr>
    </p:titleStyle>
    <p:bodyStyle>
      <a:lvl1pPr marL="257175" indent="-257175" algn="l">
        <a:spcBef>
          <a:spcPts val="0"/>
        </a:spcBef>
        <a:spcAft>
          <a:spcPts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>
        <a:spcBef>
          <a:spcPts val="0"/>
        </a:spcBef>
        <a:spcAft>
          <a:spcPts val="0"/>
        </a:spcAft>
        <a:buChar char="–"/>
        <a:defRPr sz="1800">
          <a:solidFill>
            <a:schemeClr val="tx1"/>
          </a:solidFill>
          <a:latin typeface="+mn-lt"/>
          <a:cs typeface="+mn-cs"/>
        </a:defRPr>
      </a:lvl2pPr>
      <a:lvl3pPr marL="857250" indent="-171450" algn="l">
        <a:spcBef>
          <a:spcPts val="0"/>
        </a:spcBef>
        <a:spcAft>
          <a:spcPts val="0"/>
        </a:spcAft>
        <a:buChar char="•"/>
        <a:defRPr>
          <a:solidFill>
            <a:schemeClr val="tx1"/>
          </a:solidFill>
          <a:latin typeface="+mn-lt"/>
          <a:cs typeface="+mn-cs"/>
        </a:defRPr>
      </a:lvl3pPr>
      <a:lvl4pPr marL="1200150" indent="-171450" algn="l">
        <a:spcBef>
          <a:spcPts val="0"/>
        </a:spcBef>
        <a:spcAft>
          <a:spcPts val="0"/>
        </a:spcAft>
        <a:buChar char="–"/>
        <a:defRPr>
          <a:solidFill>
            <a:schemeClr val="tx1"/>
          </a:solidFill>
          <a:latin typeface="+mn-lt"/>
          <a:cs typeface="+mn-cs"/>
        </a:defRPr>
      </a:lvl4pPr>
      <a:lvl5pPr marL="1543050" indent="-171450" algn="l">
        <a:spcBef>
          <a:spcPts val="0"/>
        </a:spcBef>
        <a:spcAft>
          <a:spcPts val="0"/>
        </a:spcAft>
        <a:buChar char="»"/>
        <a:defRPr>
          <a:solidFill>
            <a:schemeClr val="tx1"/>
          </a:solidFill>
          <a:latin typeface="+mn-lt"/>
          <a:cs typeface="+mn-cs"/>
        </a:defRPr>
      </a:lvl5pPr>
      <a:lvl6pPr marL="1885950" indent="-171450" algn="l">
        <a:spcBef>
          <a:spcPts val="0"/>
        </a:spcBef>
        <a:spcAft>
          <a:spcPts val="0"/>
        </a:spcAft>
        <a:buChar char="»"/>
        <a:defRPr>
          <a:solidFill>
            <a:schemeClr val="tx1"/>
          </a:solidFill>
          <a:latin typeface="+mn-lt"/>
          <a:cs typeface="+mn-cs"/>
        </a:defRPr>
      </a:lvl6pPr>
      <a:lvl7pPr marL="2228850" indent="-171450" algn="l">
        <a:spcBef>
          <a:spcPts val="0"/>
        </a:spcBef>
        <a:spcAft>
          <a:spcPts val="0"/>
        </a:spcAft>
        <a:buChar char="»"/>
        <a:defRPr>
          <a:solidFill>
            <a:schemeClr val="tx1"/>
          </a:solidFill>
          <a:latin typeface="+mn-lt"/>
          <a:cs typeface="+mn-cs"/>
        </a:defRPr>
      </a:lvl7pPr>
      <a:lvl8pPr marL="2571750" indent="-171450" algn="l">
        <a:spcBef>
          <a:spcPts val="0"/>
        </a:spcBef>
        <a:spcAft>
          <a:spcPts val="0"/>
        </a:spcAft>
        <a:buChar char="»"/>
        <a:defRPr>
          <a:solidFill>
            <a:schemeClr val="tx1"/>
          </a:solidFill>
          <a:latin typeface="+mn-lt"/>
          <a:cs typeface="+mn-cs"/>
        </a:defRPr>
      </a:lvl8pPr>
      <a:lvl9pPr marL="2914650" indent="-171450" algn="l">
        <a:spcBef>
          <a:spcPts val="0"/>
        </a:spcBef>
        <a:spcAft>
          <a:spcPts val="0"/>
        </a:spcAft>
        <a:buChar char="»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868680" y="1624587"/>
            <a:ext cx="740664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/>
            </a:pPr>
            <a:r>
              <a:rPr lang="en-US" sz="4000" b="1" i="0">
                <a:solidFill>
                  <a:schemeClr val="accent1">
                    <a:lumMod val="75000"/>
                  </a:schemeClr>
                </a:solidFill>
                <a:latin typeface="Calibri"/>
              </a:rPr>
              <a:t>Fused Decompression in Compiled GPU Engines</a:t>
            </a:r>
            <a:endParaRPr/>
          </a:p>
        </p:txBody>
      </p:sp>
      <p:sp>
        <p:nvSpPr>
          <p:cNvPr id="3" name="TextBox 2"/>
          <p:cNvSpPr txBox="1"/>
          <p:nvPr/>
        </p:nvSpPr>
        <p:spPr bwMode="auto">
          <a:xfrm>
            <a:off x="640080" y="3250730"/>
            <a:ext cx="7863840" cy="874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800" b="1" i="0">
                <a:solidFill>
                  <a:srgbClr val="C00000"/>
                </a:solidFill>
                <a:latin typeface="Calibri"/>
              </a:rPr>
              <a:t>Ananya Gupta</a:t>
            </a:r>
            <a:endParaRPr/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600" b="0" i="0">
                <a:solidFill>
                  <a:srgbClr val="C00000"/>
                </a:solidFill>
                <a:latin typeface="Calibri"/>
              </a:rPr>
              <a:t>Supervisor: Dr. Antonio Boffa      </a:t>
            </a:r>
            <a:endParaRPr lang="en-US" sz="1600" b="0" i="0">
              <a:solidFill>
                <a:srgbClr val="C00000"/>
              </a:solidFill>
              <a:latin typeface="Calibri"/>
            </a:endParaRP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600" b="0" i="0">
                <a:solidFill>
                  <a:srgbClr val="C00000"/>
                </a:solidFill>
                <a:latin typeface="Calibri"/>
              </a:rPr>
              <a:t>Adviser: Prof. Dr. Anastasia Ailamaki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 advTm="29216"/>
    </mc:Choice>
    <mc:Fallback xmlns:w="http://schemas.openxmlformats.org/wordprocessingml/2006/main" xmlns:m="http://schemas.openxmlformats.org/officeDocument/2006/math" xmlns="">
      <p:transition advClick="1" advTm="2921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1" y="0"/>
            <a:ext cx="9143771" cy="5143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5" name="TextBox 4"/>
          <p:cNvSpPr txBox="1"/>
          <p:nvPr/>
        </p:nvSpPr>
        <p:spPr bwMode="auto">
          <a:xfrm>
            <a:off x="493776" y="636769"/>
            <a:ext cx="7408164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r>
              <a:rPr lang="en-US" sz="2400" b="1">
                <a:solidFill>
                  <a:srgbClr val="1A1A2E"/>
                </a:solidFill>
                <a:latin typeface="+mj-lt"/>
              </a:rPr>
              <a:t>GPU-based Query engines show blazing fast performance</a:t>
            </a:r>
            <a:endParaRPr sz="2250" b="1">
              <a:solidFill>
                <a:srgbClr val="1A1A2E"/>
              </a:solidFill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493776" y="1110996"/>
            <a:ext cx="1645920" cy="28575"/>
          </a:xfrm>
          <a:prstGeom prst="rect">
            <a:avLst/>
          </a:prstGeom>
          <a:solidFill>
            <a:srgbClr val="B5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7" name="TextBox 6"/>
          <p:cNvSpPr txBox="1"/>
          <p:nvPr/>
        </p:nvSpPr>
        <p:spPr bwMode="auto">
          <a:xfrm>
            <a:off x="567608" y="1731441"/>
            <a:ext cx="3887660" cy="15642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750"/>
              </a:spcAft>
              <a:defRPr/>
            </a:pPr>
            <a:r>
              <a:rPr sz="1600">
                <a:solidFill>
                  <a:srgbClr val="B51F1F"/>
                </a:solidFill>
                <a:latin typeface="Calibri"/>
              </a:rPr>
              <a:t>■  </a:t>
            </a:r>
            <a:r>
              <a:rPr sz="2000">
                <a:solidFill>
                  <a:srgbClr val="C00000"/>
                </a:solidFill>
                <a:latin typeface="Calibri"/>
              </a:rPr>
              <a:t>But</a:t>
            </a:r>
            <a:r>
              <a:rPr sz="1600">
                <a:solidFill>
                  <a:srgbClr val="1A1A2E"/>
                </a:solidFill>
                <a:latin typeface="Calibri"/>
              </a:rPr>
              <a:t> only while the working set fits in HBM</a:t>
            </a:r>
            <a:r>
              <a:rPr lang="en-US" sz="1600">
                <a:solidFill>
                  <a:srgbClr val="1A1A2E"/>
                </a:solidFill>
                <a:latin typeface="Calibri"/>
              </a:rPr>
              <a:t> (High Bandwidth Memory)</a:t>
            </a:r>
            <a:r>
              <a:rPr sz="1600">
                <a:solidFill>
                  <a:srgbClr val="1A1A2E"/>
                </a:solidFill>
                <a:latin typeface="Calibri"/>
              </a:rPr>
              <a:t>.</a:t>
            </a:r>
            <a:endParaRPr/>
          </a:p>
          <a:p>
            <a:pPr>
              <a:lnSpc>
                <a:spcPct val="106000"/>
              </a:lnSpc>
              <a:spcAft>
                <a:spcPts val="750"/>
              </a:spcAft>
              <a:defRPr/>
            </a:pPr>
            <a:r>
              <a:rPr sz="1600">
                <a:solidFill>
                  <a:srgbClr val="B51F1F"/>
                </a:solidFill>
                <a:latin typeface="Calibri"/>
              </a:rPr>
              <a:t>■ </a:t>
            </a:r>
            <a:r>
              <a:rPr lang="en-US" sz="1600">
                <a:solidFill>
                  <a:srgbClr val="B51F1F"/>
                </a:solidFill>
                <a:latin typeface="Calibri"/>
              </a:rPr>
              <a:t> </a:t>
            </a:r>
            <a:r>
              <a:rPr lang="en-US" sz="1600">
                <a:solidFill>
                  <a:srgbClr val="1A1A2E"/>
                </a:solidFill>
                <a:latin typeface="Calibri"/>
              </a:rPr>
              <a:t>C</a:t>
            </a:r>
            <a:r>
              <a:rPr sz="1600">
                <a:solidFill>
                  <a:srgbClr val="1A1A2E"/>
                </a:solidFill>
                <a:latin typeface="Calibri"/>
              </a:rPr>
              <a:t>apacity is not getting cheape</a:t>
            </a:r>
            <a:r>
              <a:rPr lang="en-US" sz="1600">
                <a:solidFill>
                  <a:srgbClr val="1A1A2E"/>
                </a:solidFill>
                <a:latin typeface="Calibri"/>
              </a:rPr>
              <a:t>r!</a:t>
            </a:r>
            <a:endParaRPr/>
          </a:p>
          <a:p>
            <a:pPr>
              <a:lnSpc>
                <a:spcPct val="106000"/>
              </a:lnSpc>
              <a:spcAft>
                <a:spcPts val="750"/>
              </a:spcAft>
              <a:defRPr/>
            </a:pPr>
            <a:r>
              <a:rPr lang="en-US" sz="1600">
                <a:solidFill>
                  <a:srgbClr val="B51F1F"/>
                </a:solidFill>
                <a:latin typeface="Calibri"/>
              </a:rPr>
              <a:t>■  </a:t>
            </a:r>
            <a:r>
              <a:rPr lang="en-US" sz="1600">
                <a:solidFill>
                  <a:schemeClr val="tx1"/>
                </a:solidFill>
                <a:latin typeface="Calibri"/>
              </a:rPr>
              <a:t>GPUs are often </a:t>
            </a:r>
            <a:r>
              <a:rPr lang="en-US" sz="1600">
                <a:solidFill>
                  <a:srgbClr val="C00000"/>
                </a:solidFill>
                <a:latin typeface="Calibri"/>
              </a:rPr>
              <a:t>shared</a:t>
            </a:r>
            <a:r>
              <a:rPr lang="en-US" sz="1600">
                <a:solidFill>
                  <a:schemeClr val="tx1"/>
                </a:solidFill>
                <a:latin typeface="Calibri"/>
              </a:rPr>
              <a:t> among multiple processes.</a:t>
            </a:r>
            <a:endParaRPr sz="16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8" name="Picture 7" descr="capacity_vs_gb_per_dollar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4474156" y="1257258"/>
            <a:ext cx="4158088" cy="28460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 bwMode="auto">
          <a:xfrm>
            <a:off x="5012006" y="4014999"/>
            <a:ext cx="3497580" cy="139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defRPr/>
            </a:pPr>
            <a:r>
              <a:rPr sz="900" i="1">
                <a:solidFill>
                  <a:srgbClr val="8A9099"/>
                </a:solidFill>
                <a:latin typeface="Calibri"/>
              </a:rPr>
              <a:t>Capacity grows; the memory a dollar buys does not.</a:t>
            </a: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186098" y="4275897"/>
            <a:ext cx="8771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>
                <a:solidFill>
                  <a:srgbClr val="C00000"/>
                </a:solidFill>
              </a:rPr>
              <a:t>Blazing fast yet cheap queries   Reduce HBM footprint</a:t>
            </a:r>
            <a:endParaRPr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3FC239-7393-457C-9CC3-689C6419CA6F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 advTm="95734"/>
    </mc:Choice>
    <mc:Fallback xmlns:w="http://schemas.openxmlformats.org/wordprocessingml/2006/main" xmlns:m="http://schemas.openxmlformats.org/officeDocument/2006/math" xmlns="">
      <p:transition advClick="1" advTm="9573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1" y="0"/>
            <a:ext cx="9143771" cy="5143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5" name="TextBox 4"/>
          <p:cNvSpPr txBox="1"/>
          <p:nvPr/>
        </p:nvSpPr>
        <p:spPr bwMode="auto">
          <a:xfrm>
            <a:off x="480060" y="507492"/>
            <a:ext cx="576834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r>
              <a:rPr lang="en-US" sz="2250" b="1">
                <a:solidFill>
                  <a:srgbClr val="1A1A2E"/>
                </a:solidFill>
                <a:latin typeface="Calibri"/>
              </a:rPr>
              <a:t>Promising way to reduce HBM footprint </a:t>
            </a:r>
            <a:endParaRPr sz="2250" b="1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493776" y="1110996"/>
            <a:ext cx="1645920" cy="28575"/>
          </a:xfrm>
          <a:prstGeom prst="rect">
            <a:avLst/>
          </a:prstGeom>
          <a:solidFill>
            <a:srgbClr val="B5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61" name="Slide Number Placeholder 60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3FC239-7393-457C-9CC3-689C6419CA6F}" type="slidenum">
              <a:rPr lang="en-US"/>
              <a:t>2</a:t>
            </a:fld>
            <a:endParaRPr lang="en-US"/>
          </a:p>
        </p:txBody>
      </p:sp>
      <p:sp>
        <p:nvSpPr>
          <p:cNvPr id="79" name="Rounded Rectangle 78"/>
          <p:cNvSpPr/>
          <p:nvPr/>
        </p:nvSpPr>
        <p:spPr bwMode="auto">
          <a:xfrm>
            <a:off x="493776" y="1403009"/>
            <a:ext cx="4011930" cy="72009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sz="1050"/>
          </a:p>
        </p:txBody>
      </p:sp>
      <p:sp>
        <p:nvSpPr>
          <p:cNvPr id="80" name="Rounded Rectangle 79"/>
          <p:cNvSpPr/>
          <p:nvPr/>
        </p:nvSpPr>
        <p:spPr bwMode="auto">
          <a:xfrm>
            <a:off x="493776" y="1403009"/>
            <a:ext cx="377189" cy="720090"/>
          </a:xfrm>
          <a:prstGeom prst="roundRect">
            <a:avLst>
              <a:gd name="adj" fmla="val 16667"/>
            </a:avLst>
          </a:prstGeom>
          <a:solidFill>
            <a:srgbClr val="0E73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sz="1050"/>
          </a:p>
        </p:txBody>
      </p:sp>
      <p:sp>
        <p:nvSpPr>
          <p:cNvPr id="81" name="TextBox 3"/>
          <p:cNvSpPr txBox="1"/>
          <p:nvPr/>
        </p:nvSpPr>
        <p:spPr bwMode="auto">
          <a:xfrm>
            <a:off x="493776" y="1635135"/>
            <a:ext cx="377189" cy="255839"/>
          </a:xfrm>
          <a:prstGeom prst="rect">
            <a:avLst/>
          </a:prstGeom>
          <a:noFill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ajor"/>
        </p:style>
        <p:txBody>
          <a:bodyPr wrap="square" lIns="0" tIns="0" rIns="0" bIns="0" anchor="ctr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ctr">
              <a:lnSpc>
                <a:spcPct val="105000"/>
              </a:lnSpc>
              <a:defRPr/>
            </a:pPr>
            <a:r>
              <a:rPr sz="1650" b="1">
                <a:solidFill>
                  <a:srgbClr val="FFFFFF"/>
                </a:solidFill>
                <a:latin typeface="Calibri"/>
              </a:rPr>
              <a:t>1</a:t>
            </a:r>
            <a:endParaRPr/>
          </a:p>
        </p:txBody>
      </p:sp>
      <p:sp>
        <p:nvSpPr>
          <p:cNvPr id="82" name="TextBox 4"/>
          <p:cNvSpPr txBox="1"/>
          <p:nvPr/>
        </p:nvSpPr>
        <p:spPr bwMode="auto">
          <a:xfrm>
            <a:off x="987552" y="1430379"/>
            <a:ext cx="3394710" cy="248080"/>
          </a:xfrm>
          <a:prstGeom prst="rect">
            <a:avLst/>
          </a:prstGeom>
          <a:noFill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ajor"/>
        </p:style>
        <p:txBody>
          <a:bodyPr wrap="square" lIns="0" tIns="0" rIns="0" bIns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lnSpc>
                <a:spcPct val="105000"/>
              </a:lnSpc>
              <a:defRPr/>
            </a:pPr>
            <a:r>
              <a:rPr sz="1600" b="1">
                <a:solidFill>
                  <a:srgbClr val="1A1A2E"/>
                </a:solidFill>
                <a:latin typeface="Calibri"/>
              </a:rPr>
              <a:t>Less data to move</a:t>
            </a:r>
            <a:endParaRPr/>
          </a:p>
        </p:txBody>
      </p:sp>
      <p:sp>
        <p:nvSpPr>
          <p:cNvPr id="83" name="TextBox 5"/>
          <p:cNvSpPr txBox="1"/>
          <p:nvPr/>
        </p:nvSpPr>
        <p:spPr bwMode="auto">
          <a:xfrm>
            <a:off x="987552" y="1678460"/>
            <a:ext cx="3394710" cy="443198"/>
          </a:xfrm>
          <a:prstGeom prst="rect">
            <a:avLst/>
          </a:prstGeom>
          <a:noFill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ajor"/>
        </p:style>
        <p:txBody>
          <a:bodyPr wrap="square" lIns="0" tIns="0" rIns="0" bIns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lnSpc>
                <a:spcPct val="105000"/>
              </a:lnSpc>
              <a:defRPr/>
            </a:pPr>
            <a:r>
              <a:rPr>
                <a:solidFill>
                  <a:srgbClr val="444B57"/>
                </a:solidFill>
                <a:latin typeface="Calibri"/>
              </a:rPr>
              <a:t>Fewer bytes over PCIe / host→GPU transfer</a:t>
            </a:r>
            <a:endParaRPr lang="en-US">
              <a:solidFill>
                <a:srgbClr val="444B57"/>
              </a:solidFill>
              <a:latin typeface="Calibri"/>
            </a:endParaRPr>
          </a:p>
          <a:p>
            <a:pPr>
              <a:lnSpc>
                <a:spcPct val="105000"/>
              </a:lnSpc>
              <a:defRPr/>
            </a:pPr>
            <a:r>
              <a:rPr lang="en-US">
                <a:solidFill>
                  <a:srgbClr val="444B57"/>
                </a:solidFill>
                <a:latin typeface="Calibri"/>
              </a:rPr>
              <a:t>Faster Data Movement</a:t>
            </a:r>
            <a:endParaRPr>
              <a:solidFill>
                <a:srgbClr val="444B57"/>
              </a:solidFill>
              <a:latin typeface="Calibri"/>
            </a:endParaRPr>
          </a:p>
        </p:txBody>
      </p:sp>
      <p:sp>
        <p:nvSpPr>
          <p:cNvPr id="84" name="Rounded Rectangle 83"/>
          <p:cNvSpPr/>
          <p:nvPr/>
        </p:nvSpPr>
        <p:spPr bwMode="auto">
          <a:xfrm>
            <a:off x="4642866" y="1403009"/>
            <a:ext cx="4011930" cy="72009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sz="1050"/>
          </a:p>
        </p:txBody>
      </p:sp>
      <p:sp>
        <p:nvSpPr>
          <p:cNvPr id="85" name="Rounded Rectangle 84"/>
          <p:cNvSpPr/>
          <p:nvPr/>
        </p:nvSpPr>
        <p:spPr bwMode="auto">
          <a:xfrm>
            <a:off x="4642866" y="1403009"/>
            <a:ext cx="377189" cy="720090"/>
          </a:xfrm>
          <a:prstGeom prst="roundRect">
            <a:avLst>
              <a:gd name="adj" fmla="val 16667"/>
            </a:avLst>
          </a:prstGeom>
          <a:solidFill>
            <a:srgbClr val="B5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sz="1050"/>
          </a:p>
        </p:txBody>
      </p:sp>
      <p:sp>
        <p:nvSpPr>
          <p:cNvPr id="86" name="TextBox 8"/>
          <p:cNvSpPr txBox="1"/>
          <p:nvPr/>
        </p:nvSpPr>
        <p:spPr bwMode="auto">
          <a:xfrm>
            <a:off x="4642866" y="1635135"/>
            <a:ext cx="377189" cy="255839"/>
          </a:xfrm>
          <a:prstGeom prst="rect">
            <a:avLst/>
          </a:prstGeom>
          <a:noFill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ajor"/>
        </p:style>
        <p:txBody>
          <a:bodyPr wrap="square" lIns="0" tIns="0" rIns="0" bIns="0" anchor="ctr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ctr">
              <a:lnSpc>
                <a:spcPct val="105000"/>
              </a:lnSpc>
              <a:defRPr/>
            </a:pPr>
            <a:r>
              <a:rPr sz="1650" b="1">
                <a:solidFill>
                  <a:srgbClr val="FFFFFF"/>
                </a:solidFill>
                <a:latin typeface="Calibri"/>
              </a:rPr>
              <a:t>2</a:t>
            </a:r>
            <a:endParaRPr/>
          </a:p>
        </p:txBody>
      </p:sp>
      <p:sp>
        <p:nvSpPr>
          <p:cNvPr id="87" name="TextBox 9"/>
          <p:cNvSpPr txBox="1"/>
          <p:nvPr/>
        </p:nvSpPr>
        <p:spPr bwMode="auto">
          <a:xfrm>
            <a:off x="5136642" y="1435116"/>
            <a:ext cx="3394710" cy="248080"/>
          </a:xfrm>
          <a:prstGeom prst="rect">
            <a:avLst/>
          </a:prstGeom>
          <a:noFill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ajor"/>
        </p:style>
        <p:txBody>
          <a:bodyPr wrap="square" lIns="0" tIns="0" rIns="0" bIns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lnSpc>
                <a:spcPct val="105000"/>
              </a:lnSpc>
              <a:defRPr/>
            </a:pPr>
            <a:r>
              <a:rPr sz="1600" b="1">
                <a:solidFill>
                  <a:srgbClr val="1A1A2E"/>
                </a:solidFill>
                <a:latin typeface="Calibri"/>
              </a:rPr>
              <a:t>Less data to store in GPU</a:t>
            </a:r>
            <a:endParaRPr/>
          </a:p>
        </p:txBody>
      </p:sp>
      <p:sp>
        <p:nvSpPr>
          <p:cNvPr id="88" name="TextBox 10"/>
          <p:cNvSpPr txBox="1"/>
          <p:nvPr/>
        </p:nvSpPr>
        <p:spPr bwMode="auto">
          <a:xfrm>
            <a:off x="5136642" y="1735824"/>
            <a:ext cx="3394710" cy="216982"/>
          </a:xfrm>
          <a:prstGeom prst="rect">
            <a:avLst/>
          </a:prstGeom>
          <a:noFill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ajor"/>
        </p:style>
        <p:txBody>
          <a:bodyPr wrap="square" lIns="0" tIns="0" rIns="0" bIns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lnSpc>
                <a:spcPct val="105000"/>
              </a:lnSpc>
              <a:defRPr/>
            </a:pPr>
            <a:r>
              <a:rPr>
                <a:solidFill>
                  <a:srgbClr val="444B57"/>
                </a:solidFill>
                <a:latin typeface="Calibri"/>
              </a:rPr>
              <a:t>Smaller HBM footprint </a:t>
            </a:r>
            <a:r>
              <a:rPr lang="en-US">
                <a:solidFill>
                  <a:srgbClr val="444B57"/>
                </a:solidFill>
                <a:latin typeface="Calibri"/>
              </a:rPr>
              <a:t>-</a:t>
            </a:r>
            <a:r>
              <a:rPr>
                <a:solidFill>
                  <a:srgbClr val="444B57"/>
                </a:solidFill>
                <a:latin typeface="Calibri"/>
              </a:rPr>
              <a:t> more </a:t>
            </a:r>
            <a:r>
              <a:rPr lang="en-US">
                <a:solidFill>
                  <a:srgbClr val="444B57"/>
                </a:solidFill>
                <a:latin typeface="Calibri"/>
              </a:rPr>
              <a:t>data can </a:t>
            </a:r>
            <a:r>
              <a:rPr>
                <a:solidFill>
                  <a:srgbClr val="444B57"/>
                </a:solidFill>
                <a:latin typeface="Calibri"/>
              </a:rPr>
              <a:t>fit </a:t>
            </a:r>
            <a:r>
              <a:rPr lang="en-US">
                <a:solidFill>
                  <a:srgbClr val="444B57"/>
                </a:solidFill>
                <a:latin typeface="Calibri"/>
              </a:rPr>
              <a:t>now</a:t>
            </a:r>
            <a:endParaRPr>
              <a:solidFill>
                <a:srgbClr val="444B57"/>
              </a:solidFill>
              <a:latin typeface="Calibri"/>
            </a:endParaRPr>
          </a:p>
        </p:txBody>
      </p:sp>
      <p:sp>
        <p:nvSpPr>
          <p:cNvPr id="89" name="TextBox 88"/>
          <p:cNvSpPr txBox="1"/>
          <p:nvPr/>
        </p:nvSpPr>
        <p:spPr bwMode="auto">
          <a:xfrm>
            <a:off x="1614536" y="3923318"/>
            <a:ext cx="60566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C00000"/>
                </a:solidFill>
                <a:latin typeface="+mj-lt"/>
              </a:rPr>
              <a:t>Compression is useful but where and how to decompress in compiled GPU engines?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 bwMode="auto">
          <a:xfrm>
            <a:off x="2551795" y="3562498"/>
            <a:ext cx="36599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200" dirty="0">
                <a:latin typeface="+mn-lt"/>
              </a:rPr>
              <a:t>Tile Based Compression Methods (RFOR, Fastlanes etc.)</a:t>
            </a:r>
            <a:endParaRPr dirty="0"/>
          </a:p>
        </p:txBody>
      </p:sp>
      <p:pic>
        <p:nvPicPr>
          <p:cNvPr id="7" name="Picture 6" descr="A close-up of a black background&#10;&#10;AI-generated content may be incorrect.">
            <a:extLst>
              <a:ext uri="{FF2B5EF4-FFF2-40B4-BE49-F238E27FC236}">
                <a16:creationId xmlns:a16="http://schemas.microsoft.com/office/drawing/2014/main" id="{5BC5F990-7AA0-2F77-EB2F-7D0662A172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709" r="4853" b="17786"/>
          <a:stretch>
            <a:fillRect/>
          </a:stretch>
        </p:blipFill>
        <p:spPr>
          <a:xfrm>
            <a:off x="542860" y="2287636"/>
            <a:ext cx="8058280" cy="13043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 advTm="101675"/>
    </mc:Choice>
    <mc:Fallback xmlns:w="http://schemas.openxmlformats.org/wordprocessingml/2006/main" xmlns:m="http://schemas.openxmlformats.org/officeDocument/2006/math" xmlns="">
      <p:transition advClick="1" advTm="10167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r="32042"/>
          <a:stretch/>
        </p:blipFill>
        <p:spPr bwMode="auto">
          <a:xfrm>
            <a:off x="4899054" y="1151211"/>
            <a:ext cx="3977986" cy="284107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 bwMode="auto">
          <a:xfrm>
            <a:off x="73902" y="201996"/>
            <a:ext cx="9143771" cy="5143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5" name="TextBox 4"/>
          <p:cNvSpPr txBox="1"/>
          <p:nvPr/>
        </p:nvSpPr>
        <p:spPr bwMode="auto">
          <a:xfrm>
            <a:off x="480060" y="507492"/>
            <a:ext cx="221742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r>
              <a:rPr lang="en-US" sz="2250" b="1">
                <a:solidFill>
                  <a:srgbClr val="1A1A2E"/>
                </a:solidFill>
                <a:latin typeface="Calibri"/>
              </a:rPr>
              <a:t>E</a:t>
            </a:r>
            <a:r>
              <a:rPr sz="2250" b="1">
                <a:solidFill>
                  <a:srgbClr val="1A1A2E"/>
                </a:solidFill>
                <a:latin typeface="Calibri"/>
              </a:rPr>
              <a:t>xisting </a:t>
            </a:r>
            <a:r>
              <a:rPr lang="en-US" sz="2250" b="1">
                <a:solidFill>
                  <a:srgbClr val="1A1A2E"/>
                </a:solidFill>
                <a:latin typeface="Calibri"/>
              </a:rPr>
              <a:t>Solutions</a:t>
            </a:r>
            <a:endParaRPr sz="2250" b="1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493776" y="1110996"/>
            <a:ext cx="1645920" cy="28575"/>
          </a:xfrm>
          <a:prstGeom prst="rect">
            <a:avLst/>
          </a:prstGeom>
          <a:solidFill>
            <a:srgbClr val="B5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9" name="TextBox 8"/>
          <p:cNvSpPr txBox="1"/>
          <p:nvPr/>
        </p:nvSpPr>
        <p:spPr bwMode="auto">
          <a:xfrm>
            <a:off x="480060" y="1866776"/>
            <a:ext cx="3896678" cy="2790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  <a:defRPr/>
            </a:pPr>
            <a:r>
              <a:rPr lang="en-US" sz="1800" b="1">
                <a:solidFill>
                  <a:srgbClr val="C00000"/>
                </a:solidFill>
                <a:latin typeface="+mj-lt"/>
              </a:rPr>
              <a:t>Pre-decom: </a:t>
            </a:r>
            <a:r>
              <a:rPr sz="1800" b="1">
                <a:solidFill>
                  <a:srgbClr val="C00000"/>
                </a:solidFill>
                <a:latin typeface="+mj-lt"/>
              </a:rPr>
              <a:t>Decompress</a:t>
            </a:r>
            <a:r>
              <a:rPr sz="1600" b="1">
                <a:solidFill>
                  <a:srgbClr val="C00000"/>
                </a:solidFill>
                <a:latin typeface="+mj-lt"/>
              </a:rPr>
              <a:t> eagerly into HBM</a:t>
            </a:r>
            <a:r>
              <a:rPr lang="en-US" sz="1600" b="1">
                <a:solidFill>
                  <a:srgbClr val="C00000"/>
                </a:solidFill>
                <a:latin typeface="+mj-lt"/>
              </a:rPr>
              <a:t> </a:t>
            </a:r>
            <a:endParaRPr/>
          </a:p>
        </p:txBody>
      </p:sp>
      <p:sp>
        <p:nvSpPr>
          <p:cNvPr id="23" name="TextBox 22"/>
          <p:cNvSpPr txBox="1"/>
          <p:nvPr/>
        </p:nvSpPr>
        <p:spPr bwMode="auto">
          <a:xfrm>
            <a:off x="1444426" y="4031474"/>
            <a:ext cx="6402722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2400">
                <a:solidFill>
                  <a:srgbClr val="C00000"/>
                </a:solidFill>
                <a:latin typeface="Calibri"/>
              </a:rPr>
              <a:t>Can a compiled GPU engine </a:t>
            </a:r>
            <a:r>
              <a:rPr lang="en-US" sz="2400">
                <a:solidFill>
                  <a:srgbClr val="C00000"/>
                </a:solidFill>
                <a:latin typeface="Calibri"/>
              </a:rPr>
              <a:t>keep data compressed and decompress it within the </a:t>
            </a:r>
            <a:r>
              <a:rPr lang="en-US" sz="2400" b="1">
                <a:solidFill>
                  <a:srgbClr val="C00000"/>
                </a:solidFill>
                <a:latin typeface="Calibri"/>
              </a:rPr>
              <a:t>fused kernel</a:t>
            </a:r>
            <a:r>
              <a:rPr sz="2400">
                <a:solidFill>
                  <a:srgbClr val="C00000"/>
                </a:solidFill>
                <a:latin typeface="Calibri"/>
              </a:rPr>
              <a:t>?</a:t>
            </a:r>
            <a:endParaRPr lang="en-US" sz="240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7034570" y="979654"/>
            <a:ext cx="1904944" cy="2955483"/>
          </a:xfrm>
          <a:prstGeom prst="rect">
            <a:avLst/>
          </a:prstGeom>
          <a:noFill/>
          <a:ln w="1270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3FC239-7393-457C-9CC3-689C6419CA6F}" type="slidenum">
              <a:rPr lang="en-US"/>
              <a:t>3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 bwMode="auto">
          <a:xfrm>
            <a:off x="389507" y="2188970"/>
            <a:ext cx="461857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/>
              <a:buChar char="§"/>
              <a:defRPr/>
            </a:pPr>
            <a:r>
              <a:rPr lang="en-US">
                <a:latin typeface="+mn-lt"/>
              </a:rPr>
              <a:t>Separate Decompression Kernel </a:t>
            </a:r>
            <a:endParaRPr/>
          </a:p>
          <a:p>
            <a:pPr marL="285750" indent="-285750">
              <a:buFont typeface="Wingdings"/>
              <a:buChar char="§"/>
              <a:defRPr/>
            </a:pPr>
            <a:r>
              <a:rPr lang="en-US">
                <a:latin typeface="+mn-lt"/>
              </a:rPr>
              <a:t>Large HBM footprint</a:t>
            </a:r>
            <a:endParaRPr/>
          </a:p>
          <a:p>
            <a:pPr marL="285750" indent="-285750">
              <a:buFont typeface="Wingdings"/>
              <a:buChar char="§"/>
              <a:defRPr/>
            </a:pPr>
            <a:r>
              <a:rPr lang="en-US">
                <a:latin typeface="+mn-lt"/>
              </a:rPr>
              <a:t>Extra round trip </a:t>
            </a:r>
            <a:endParaRPr/>
          </a:p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r>
              <a:rPr lang="en-US" b="1">
                <a:solidFill>
                  <a:srgbClr val="B51F1F"/>
                </a:solidFill>
                <a:latin typeface="Calibri"/>
              </a:rPr>
              <a:t>✗ </a:t>
            </a:r>
            <a:r>
              <a:rPr lang="en-US">
                <a:solidFill>
                  <a:schemeClr val="tx1"/>
                </a:solidFill>
                <a:latin typeface="+mn-lt"/>
              </a:rPr>
              <a:t>Wastes the very footprint and bandwidth it meant to save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 advTm="66810"/>
    </mc:Choice>
    <mc:Fallback xmlns:w="http://schemas.openxmlformats.org/wordprocessingml/2006/main" xmlns:m="http://schemas.openxmlformats.org/officeDocument/2006/math" xmlns="">
      <p:transition advClick="1" advTm="6681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 flipV="1">
            <a:off x="493776" y="1065277"/>
            <a:ext cx="1380744" cy="45719"/>
          </a:xfrm>
          <a:prstGeom prst="rect">
            <a:avLst/>
          </a:prstGeom>
          <a:solidFill>
            <a:srgbClr val="B5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8" name="TextBox 7"/>
          <p:cNvSpPr txBox="1"/>
          <p:nvPr/>
        </p:nvSpPr>
        <p:spPr bwMode="auto">
          <a:xfrm>
            <a:off x="480060" y="507492"/>
            <a:ext cx="2947195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r>
              <a:rPr lang="en-US" sz="2250" b="1">
                <a:solidFill>
                  <a:srgbClr val="1A1A2E"/>
                </a:solidFill>
                <a:latin typeface="Calibri"/>
              </a:rPr>
              <a:t>GPU Memory Hierarchy</a:t>
            </a:r>
            <a:endParaRPr sz="2250" b="1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3FC239-7393-457C-9CC3-689C6419CA6F}" type="slidenum">
              <a:rPr lang="en-US"/>
              <a:t>4</a:t>
            </a:fld>
            <a:endParaRPr lang="en-US"/>
          </a:p>
        </p:txBody>
      </p:sp>
      <p:pic>
        <p:nvPicPr>
          <p:cNvPr id="17" name="Picture 16" descr="A screenshot of a computer&#10;&#10;AI-generated content may be incorrect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1205712" y="957599"/>
            <a:ext cx="7938288" cy="3780137"/>
          </a:xfrm>
          <a:prstGeom prst="rect">
            <a:avLst/>
          </a:prstGeom>
        </p:spPr>
      </p:pic>
      <p:pic>
        <p:nvPicPr>
          <p:cNvPr id="1607821467" name="Picture 160782146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6363092" y="367306"/>
            <a:ext cx="2937061" cy="5902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 advTm="21308"/>
    </mc:Choice>
    <mc:Fallback xmlns:w="http://schemas.openxmlformats.org/wordprocessingml/2006/main" xmlns:m="http://schemas.openxmlformats.org/officeDocument/2006/math" xmlns="">
      <p:transition advClick="1" advTm="21308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rcRect b="16210"/>
          <a:stretch/>
        </p:blipFill>
        <p:spPr bwMode="auto">
          <a:xfrm>
            <a:off x="4819002" y="853741"/>
            <a:ext cx="3762483" cy="336600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 bwMode="auto">
          <a:xfrm>
            <a:off x="1" y="0"/>
            <a:ext cx="9143771" cy="5143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5" name="TextBox 4"/>
          <p:cNvSpPr txBox="1"/>
          <p:nvPr/>
        </p:nvSpPr>
        <p:spPr bwMode="auto">
          <a:xfrm>
            <a:off x="480060" y="507492"/>
            <a:ext cx="822960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r>
              <a:rPr lang="en-US" sz="2250" b="1">
                <a:solidFill>
                  <a:srgbClr val="1A1A2E"/>
                </a:solidFill>
                <a:latin typeface="Calibri"/>
              </a:rPr>
              <a:t>Decompression as a first-class citizen Operator</a:t>
            </a:r>
            <a:endParaRPr sz="2250" b="1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493776" y="1110996"/>
            <a:ext cx="1645920" cy="28575"/>
          </a:xfrm>
          <a:prstGeom prst="rect">
            <a:avLst/>
          </a:prstGeom>
          <a:solidFill>
            <a:srgbClr val="B5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14" name="TextBox 13"/>
          <p:cNvSpPr txBox="1"/>
          <p:nvPr/>
        </p:nvSpPr>
        <p:spPr bwMode="auto">
          <a:xfrm>
            <a:off x="438332" y="2065099"/>
            <a:ext cx="4066519" cy="1213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675"/>
              </a:spcAft>
              <a:defRPr/>
            </a:pPr>
            <a:r>
              <a:rPr lang="en-US" sz="2000" b="1">
                <a:solidFill>
                  <a:srgbClr val="C00000"/>
                </a:solidFill>
                <a:latin typeface="Calibri"/>
              </a:rPr>
              <a:t>Configuration Knobs:</a:t>
            </a:r>
            <a:endParaRPr sz="2000" b="1">
              <a:solidFill>
                <a:srgbClr val="C00000"/>
              </a:solidFill>
              <a:latin typeface="Calibri"/>
            </a:endParaRPr>
          </a:p>
          <a:p>
            <a:pPr marL="171450" indent="-171450">
              <a:spcAft>
                <a:spcPts val="675"/>
              </a:spcAft>
              <a:buFont typeface="Arial"/>
              <a:buChar char="•"/>
              <a:defRPr/>
            </a:pPr>
            <a:r>
              <a:rPr lang="en-US" sz="1600" b="1">
                <a:solidFill>
                  <a:srgbClr val="444B57"/>
                </a:solidFill>
                <a:latin typeface="Calibri"/>
              </a:rPr>
              <a:t>Decode Placement:</a:t>
            </a:r>
            <a:r>
              <a:rPr sz="1600" b="1">
                <a:solidFill>
                  <a:srgbClr val="444B57"/>
                </a:solidFill>
                <a:latin typeface="Calibri"/>
              </a:rPr>
              <a:t> </a:t>
            </a:r>
            <a:r>
              <a:rPr lang="en-US">
                <a:solidFill>
                  <a:srgbClr val="444B57"/>
                </a:solidFill>
                <a:latin typeface="Calibri"/>
              </a:rPr>
              <a:t>Shared Memory/Registers</a:t>
            </a:r>
            <a:endParaRPr/>
          </a:p>
          <a:p>
            <a:pPr marL="171450" indent="-171450">
              <a:spcAft>
                <a:spcPts val="675"/>
              </a:spcAft>
              <a:buFont typeface="Arial"/>
              <a:buChar char="•"/>
              <a:defRPr/>
            </a:pPr>
            <a:r>
              <a:rPr lang="en-US" sz="1600" b="1">
                <a:solidFill>
                  <a:srgbClr val="444B57"/>
                </a:solidFill>
                <a:latin typeface="Calibri"/>
              </a:rPr>
              <a:t>Threads/Tile Configuration: </a:t>
            </a:r>
            <a:r>
              <a:rPr lang="en-US" sz="1600">
                <a:solidFill>
                  <a:srgbClr val="444B57"/>
                </a:solidFill>
                <a:latin typeface="Calibri"/>
              </a:rPr>
              <a:t>T</a:t>
            </a:r>
            <a:r>
              <a:rPr lang="en-US">
                <a:solidFill>
                  <a:srgbClr val="444B57"/>
                </a:solidFill>
                <a:latin typeface="Calibri"/>
              </a:rPr>
              <a:t>ile size(T), Threads Count, Work per thread etc</a:t>
            </a:r>
          </a:p>
        </p:txBody>
      </p:sp>
      <p:sp>
        <p:nvSpPr>
          <p:cNvPr id="51" name="Slide Number Placeholder 50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3FC239-7393-457C-9CC3-689C6419CA6F}" type="slidenum">
              <a:rPr lang="en-US"/>
              <a:t>5</a:t>
            </a:fld>
            <a:endParaRPr lang="en-US"/>
          </a:p>
        </p:txBody>
      </p:sp>
      <p:sp>
        <p:nvSpPr>
          <p:cNvPr id="28" name="TextBox 27"/>
          <p:cNvSpPr txBox="1"/>
          <p:nvPr/>
        </p:nvSpPr>
        <p:spPr bwMode="auto">
          <a:xfrm>
            <a:off x="676586" y="4220509"/>
            <a:ext cx="7790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>
                <a:solidFill>
                  <a:srgbClr val="C00000"/>
                </a:solidFill>
                <a:latin typeface="Calibri"/>
              </a:rPr>
              <a:t>2 Knobs decide the Fused Kernel performance (decompression plus query execution)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 advTm="54824"/>
    </mc:Choice>
    <mc:Fallback xmlns:w="http://schemas.openxmlformats.org/wordprocessingml/2006/main" xmlns:m="http://schemas.openxmlformats.org/officeDocument/2006/math" xmlns="">
      <p:transition advClick="1" advTm="5482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752070" y="1325181"/>
            <a:ext cx="5136725" cy="249313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 bwMode="auto">
          <a:xfrm>
            <a:off x="1" y="0"/>
            <a:ext cx="9143771" cy="5143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5" name="TextBox 4"/>
          <p:cNvSpPr txBox="1"/>
          <p:nvPr/>
        </p:nvSpPr>
        <p:spPr bwMode="auto">
          <a:xfrm>
            <a:off x="480060" y="507492"/>
            <a:ext cx="822960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r>
              <a:rPr lang="en-US" sz="2250" b="1">
                <a:solidFill>
                  <a:srgbClr val="1A1A2E"/>
                </a:solidFill>
                <a:latin typeface="Calibri"/>
              </a:rPr>
              <a:t>Tradeoffs with Fusion</a:t>
            </a:r>
            <a:endParaRPr sz="2250" b="1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51" name="Slide Number Placeholder 50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3FC239-7393-457C-9CC3-689C6419CA6F}" type="slidenum">
              <a:rPr lang="en-US"/>
              <a:t>6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 bwMode="auto">
          <a:xfrm>
            <a:off x="480060" y="1505204"/>
            <a:ext cx="3390900" cy="23151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675"/>
              </a:spcAft>
              <a:defRPr/>
            </a:pPr>
            <a:r>
              <a:rPr lang="en-US">
                <a:solidFill>
                  <a:srgbClr val="C00000"/>
                </a:solidFill>
                <a:latin typeface="+mn-lt"/>
              </a:rPr>
              <a:t>✅ </a:t>
            </a:r>
            <a:r>
              <a:rPr lang="en-US">
                <a:solidFill>
                  <a:schemeClr val="tx1"/>
                </a:solidFill>
                <a:latin typeface="+mn-lt"/>
              </a:rPr>
              <a:t>Reduces Global Memory footprint</a:t>
            </a:r>
            <a:endParaRPr/>
          </a:p>
          <a:p>
            <a:pPr>
              <a:lnSpc>
                <a:spcPct val="106000"/>
              </a:lnSpc>
              <a:spcAft>
                <a:spcPts val="675"/>
              </a:spcAft>
              <a:defRPr/>
            </a:pPr>
            <a:r>
              <a:rPr lang="en-US">
                <a:solidFill>
                  <a:schemeClr val="tx1"/>
                </a:solidFill>
                <a:latin typeface="+mn-lt"/>
              </a:rPr>
              <a:t>✅ Saves the extra round trip to Global Memory</a:t>
            </a:r>
            <a:endParaRPr/>
          </a:p>
          <a:p>
            <a:pPr>
              <a:lnSpc>
                <a:spcPct val="106000"/>
              </a:lnSpc>
              <a:spcAft>
                <a:spcPts val="675"/>
              </a:spcAft>
              <a:defRPr/>
            </a:pPr>
            <a:r>
              <a:rPr lang="en-US">
                <a:solidFill>
                  <a:srgbClr val="C00000"/>
                </a:solidFill>
                <a:latin typeface="+mn-lt"/>
              </a:rPr>
              <a:t>❌ </a:t>
            </a:r>
            <a:r>
              <a:rPr lang="en-US">
                <a:solidFill>
                  <a:schemeClr val="tx1"/>
                </a:solidFill>
                <a:latin typeface="+mn-lt"/>
              </a:rPr>
              <a:t>Pressure on Global Memory     ,but on Shared/Registers</a:t>
            </a:r>
            <a:endParaRPr lang="en-US">
              <a:solidFill>
                <a:srgbClr val="C00000"/>
              </a:solidFill>
              <a:latin typeface="+mn-lt"/>
            </a:endParaRPr>
          </a:p>
          <a:p>
            <a:pPr>
              <a:lnSpc>
                <a:spcPct val="106000"/>
              </a:lnSpc>
              <a:spcAft>
                <a:spcPts val="675"/>
              </a:spcAft>
              <a:defRPr/>
            </a:pPr>
            <a:r>
              <a:rPr lang="en-US" sz="1200">
                <a:solidFill>
                  <a:srgbClr val="C00000"/>
                </a:solidFill>
              </a:rPr>
              <a:t>❌ </a:t>
            </a:r>
            <a:r>
              <a:rPr lang="en-US">
                <a:solidFill>
                  <a:srgbClr val="C00000"/>
                </a:solidFill>
                <a:latin typeface="+mn-lt"/>
              </a:rPr>
              <a:t>Single Kernel </a:t>
            </a:r>
            <a:r>
              <a:rPr lang="en-US">
                <a:solidFill>
                  <a:schemeClr val="tx1"/>
                </a:solidFill>
                <a:latin typeface="+mn-lt"/>
              </a:rPr>
              <a:t></a:t>
            </a:r>
            <a:r>
              <a:rPr lang="en-US">
                <a:solidFill>
                  <a:srgbClr val="C00000"/>
                </a:solidFill>
                <a:latin typeface="+mn-lt"/>
              </a:rPr>
              <a:t> Single configuration </a:t>
            </a:r>
            <a:r>
              <a:rPr lang="en-US">
                <a:solidFill>
                  <a:schemeClr val="tx1"/>
                </a:solidFill>
                <a:latin typeface="+mn-lt"/>
              </a:rPr>
              <a:t>shared by both </a:t>
            </a:r>
            <a:r>
              <a:rPr lang="en-US">
                <a:solidFill>
                  <a:srgbClr val="C00000"/>
                </a:solidFill>
                <a:latin typeface="+mn-lt"/>
              </a:rPr>
              <a:t>Decompression </a:t>
            </a:r>
            <a:r>
              <a:rPr lang="en-US">
                <a:solidFill>
                  <a:schemeClr val="tx1"/>
                </a:solidFill>
                <a:latin typeface="+mn-lt"/>
              </a:rPr>
              <a:t>and</a:t>
            </a:r>
            <a:r>
              <a:rPr lang="en-US">
                <a:solidFill>
                  <a:srgbClr val="C00000"/>
                </a:solidFill>
                <a:latin typeface="+mn-lt"/>
              </a:rPr>
              <a:t> query execution </a:t>
            </a:r>
            <a:r>
              <a:rPr lang="en-US">
                <a:solidFill>
                  <a:schemeClr val="tx1"/>
                </a:solidFill>
                <a:latin typeface="+mn-lt"/>
              </a:rPr>
              <a:t>Each thread does decompression and execution.</a:t>
            </a:r>
            <a:endParaRPr lang="en-US">
              <a:solidFill>
                <a:srgbClr val="C00000"/>
              </a:solidFill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493776" y="1110996"/>
            <a:ext cx="1645920" cy="28575"/>
          </a:xfrm>
          <a:prstGeom prst="rect">
            <a:avLst/>
          </a:prstGeom>
          <a:solidFill>
            <a:srgbClr val="B5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9" name="TextBox 8"/>
          <p:cNvSpPr txBox="1"/>
          <p:nvPr/>
        </p:nvSpPr>
        <p:spPr bwMode="auto">
          <a:xfrm>
            <a:off x="457086" y="3948201"/>
            <a:ext cx="822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>
                <a:solidFill>
                  <a:srgbClr val="C00000"/>
                </a:solidFill>
                <a:latin typeface="Calibri"/>
              </a:rPr>
              <a:t>Fused Decompression Mixes the effects of decompression with query Execution</a:t>
            </a:r>
            <a:endParaRPr/>
          </a:p>
        </p:txBody>
      </p:sp>
      <p:sp>
        <p:nvSpPr>
          <p:cNvPr id="19" name="Up Arrow 18"/>
          <p:cNvSpPr/>
          <p:nvPr/>
        </p:nvSpPr>
        <p:spPr bwMode="auto">
          <a:xfrm rot="10800000">
            <a:off x="2786861" y="2337021"/>
            <a:ext cx="89568" cy="2571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88C16E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" name="Up Arrow 19"/>
          <p:cNvSpPr/>
          <p:nvPr/>
        </p:nvSpPr>
        <p:spPr bwMode="auto">
          <a:xfrm>
            <a:off x="1762656" y="2594121"/>
            <a:ext cx="89569" cy="2571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2">
              <a:lumMod val="7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 advTm="57262"/>
    </mc:Choice>
    <mc:Fallback xmlns:w="http://schemas.openxmlformats.org/wordprocessingml/2006/main" xmlns:m="http://schemas.openxmlformats.org/officeDocument/2006/math" xmlns="">
      <p:transition advClick="1" advTm="57262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518106" y="1130435"/>
            <a:ext cx="5797093" cy="281365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 bwMode="auto">
          <a:xfrm>
            <a:off x="1" y="0"/>
            <a:ext cx="9143771" cy="5143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6" name="Rectangle 5"/>
          <p:cNvSpPr/>
          <p:nvPr/>
        </p:nvSpPr>
        <p:spPr bwMode="auto">
          <a:xfrm>
            <a:off x="493776" y="1110996"/>
            <a:ext cx="1645920" cy="28575"/>
          </a:xfrm>
          <a:prstGeom prst="rect">
            <a:avLst/>
          </a:prstGeom>
          <a:solidFill>
            <a:srgbClr val="B5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13" name="TextBox 12"/>
          <p:cNvSpPr txBox="1"/>
          <p:nvPr/>
        </p:nvSpPr>
        <p:spPr bwMode="auto">
          <a:xfrm>
            <a:off x="480060" y="507492"/>
            <a:ext cx="822960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r>
              <a:rPr lang="en-US" sz="2250" b="1">
                <a:solidFill>
                  <a:srgbClr val="1A1A2E"/>
                </a:solidFill>
                <a:latin typeface="Calibri"/>
              </a:rPr>
              <a:t>Main Questions</a:t>
            </a:r>
            <a:endParaRPr sz="2250" b="1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3FC239-7393-457C-9CC3-689C6419CA6F}" type="slidenum">
              <a:rPr lang="en-US"/>
              <a:t>7</a:t>
            </a:fld>
            <a:endParaRPr lang="en-US"/>
          </a:p>
        </p:txBody>
      </p:sp>
      <p:sp>
        <p:nvSpPr>
          <p:cNvPr id="40" name="TextBox 39"/>
          <p:cNvSpPr txBox="1"/>
          <p:nvPr/>
        </p:nvSpPr>
        <p:spPr bwMode="auto">
          <a:xfrm>
            <a:off x="494366" y="4046479"/>
            <a:ext cx="82296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AutoNum type="arabicPeriod"/>
              <a:defRPr/>
            </a:pPr>
            <a:r>
              <a:rPr lang="en-US" sz="2000">
                <a:solidFill>
                  <a:srgbClr val="C00000"/>
                </a:solidFill>
                <a:latin typeface="+mj-lt"/>
              </a:rPr>
              <a:t>Is fused decompression always better? What are the costs/tradeoffs?</a:t>
            </a:r>
            <a:endParaRPr/>
          </a:p>
          <a:p>
            <a:pPr marL="342900" indent="-342900">
              <a:spcAft>
                <a:spcPts val="600"/>
              </a:spcAft>
              <a:buFont typeface="Arial"/>
              <a:buAutoNum type="arabicPeriod"/>
              <a:defRPr/>
            </a:pPr>
            <a:r>
              <a:rPr lang="en-US" sz="2000">
                <a:solidFill>
                  <a:srgbClr val="C00000"/>
                </a:solidFill>
                <a:latin typeface="+mj-lt"/>
              </a:rPr>
              <a:t>How to choose the best configuration for fused? </a:t>
            </a:r>
            <a:r>
              <a:rPr lang="en-US" sz="1200">
                <a:solidFill>
                  <a:schemeClr val="accent1">
                    <a:lumMod val="75000"/>
                  </a:schemeClr>
                </a:solidFill>
                <a:latin typeface="+mj-lt"/>
              </a:rPr>
              <a:t>Decode Placement, Tile Configuration</a:t>
            </a:r>
            <a:endParaRPr lang="en-US" sz="1800">
              <a:solidFill>
                <a:schemeClr val="accent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5487710" y="920637"/>
            <a:ext cx="1904944" cy="2955483"/>
          </a:xfrm>
          <a:prstGeom prst="rect">
            <a:avLst/>
          </a:prstGeom>
          <a:noFill/>
          <a:ln w="12700">
            <a:solidFill>
              <a:srgbClr val="88C16E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 advTm="34256"/>
    </mc:Choice>
    <mc:Fallback xmlns:w="http://schemas.openxmlformats.org/wordprocessingml/2006/main" xmlns:m="http://schemas.openxmlformats.org/officeDocument/2006/math" xmlns="">
      <p:transition advClick="1" advTm="3425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 bwMode="auto">
          <a:xfrm>
            <a:off x="443162" y="3845968"/>
            <a:ext cx="1742188" cy="500633"/>
          </a:xfrm>
          <a:prstGeom prst="roundRect">
            <a:avLst>
              <a:gd name="adj" fmla="val 16667"/>
            </a:avLst>
          </a:prstGeom>
          <a:solidFill>
            <a:srgbClr val="0E73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b="1"/>
              <a:t>Tile Configurations</a:t>
            </a:r>
            <a:endParaRPr/>
          </a:p>
        </p:txBody>
      </p:sp>
      <p:sp>
        <p:nvSpPr>
          <p:cNvPr id="2" name="Rectangle 1"/>
          <p:cNvSpPr/>
          <p:nvPr/>
        </p:nvSpPr>
        <p:spPr bwMode="auto">
          <a:xfrm>
            <a:off x="1" y="0"/>
            <a:ext cx="9143771" cy="5143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5" name="TextBox 4"/>
          <p:cNvSpPr txBox="1"/>
          <p:nvPr/>
        </p:nvSpPr>
        <p:spPr bwMode="auto">
          <a:xfrm>
            <a:off x="480060" y="507492"/>
            <a:ext cx="822960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r>
              <a:rPr sz="2250" b="1">
                <a:solidFill>
                  <a:srgbClr val="1A1A2E"/>
                </a:solidFill>
                <a:latin typeface="Calibri"/>
              </a:rPr>
              <a:t>Setup</a:t>
            </a:r>
            <a:endParaRPr/>
          </a:p>
        </p:txBody>
      </p:sp>
      <p:sp>
        <p:nvSpPr>
          <p:cNvPr id="6" name="Rectangle 5"/>
          <p:cNvSpPr/>
          <p:nvPr/>
        </p:nvSpPr>
        <p:spPr bwMode="auto">
          <a:xfrm>
            <a:off x="493776" y="1110996"/>
            <a:ext cx="1645920" cy="28575"/>
          </a:xfrm>
          <a:prstGeom prst="rect">
            <a:avLst/>
          </a:prstGeom>
          <a:solidFill>
            <a:srgbClr val="B5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9" name="TextBox 8"/>
          <p:cNvSpPr txBox="1"/>
          <p:nvPr/>
        </p:nvSpPr>
        <p:spPr bwMode="auto">
          <a:xfrm>
            <a:off x="453954" y="1274021"/>
            <a:ext cx="1731396" cy="2169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  <a:defRPr/>
            </a:pPr>
            <a:r>
              <a:rPr>
                <a:solidFill>
                  <a:srgbClr val="444B57"/>
                </a:solidFill>
                <a:latin typeface="Calibri"/>
              </a:rPr>
              <a:t>NVIDIA A40</a:t>
            </a:r>
            <a:r>
              <a:rPr lang="en-US">
                <a:solidFill>
                  <a:srgbClr val="444B57"/>
                </a:solidFill>
                <a:latin typeface="Calibri"/>
              </a:rPr>
              <a:t>, </a:t>
            </a:r>
            <a:r>
              <a:rPr>
                <a:solidFill>
                  <a:srgbClr val="444B57"/>
                </a:solidFill>
                <a:latin typeface="Calibri"/>
              </a:rPr>
              <a:t>48 GB</a:t>
            </a:r>
            <a:endParaRPr/>
          </a:p>
        </p:txBody>
      </p:sp>
      <p:sp>
        <p:nvSpPr>
          <p:cNvPr id="13" name="Rounded Rectangle 12"/>
          <p:cNvSpPr/>
          <p:nvPr/>
        </p:nvSpPr>
        <p:spPr bwMode="auto">
          <a:xfrm>
            <a:off x="434340" y="1593115"/>
            <a:ext cx="1742188" cy="425196"/>
          </a:xfrm>
          <a:prstGeom prst="roundRect">
            <a:avLst>
              <a:gd name="adj" fmla="val 16667"/>
            </a:avLst>
          </a:prstGeom>
          <a:solidFill>
            <a:srgbClr val="0E73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defRPr/>
            </a:pPr>
            <a:r>
              <a:rPr lang="en-US" b="1">
                <a:solidFill>
                  <a:srgbClr val="FFFFFF"/>
                </a:solidFill>
              </a:rPr>
              <a:t>Workload</a:t>
            </a: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2251710" y="1697223"/>
            <a:ext cx="2884316" cy="2169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  <a:defRPr/>
            </a:pPr>
            <a:r>
              <a:rPr lang="en-US">
                <a:solidFill>
                  <a:srgbClr val="444B57"/>
                </a:solidFill>
                <a:latin typeface="Calibri"/>
              </a:rPr>
              <a:t>SSB</a:t>
            </a:r>
            <a:r>
              <a:rPr>
                <a:solidFill>
                  <a:srgbClr val="444B57"/>
                </a:solidFill>
                <a:latin typeface="Calibri"/>
              </a:rPr>
              <a:t>, SF = 100</a:t>
            </a:r>
            <a:endParaRPr/>
          </a:p>
        </p:txBody>
      </p:sp>
      <p:sp>
        <p:nvSpPr>
          <p:cNvPr id="16" name="Rounded Rectangle 15"/>
          <p:cNvSpPr/>
          <p:nvPr/>
        </p:nvSpPr>
        <p:spPr bwMode="auto">
          <a:xfrm>
            <a:off x="434340" y="2086891"/>
            <a:ext cx="1742188" cy="425196"/>
          </a:xfrm>
          <a:prstGeom prst="roundRect">
            <a:avLst>
              <a:gd name="adj" fmla="val 16667"/>
            </a:avLst>
          </a:prstGeom>
          <a:solidFill>
            <a:srgbClr val="0E73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5000"/>
              </a:lnSpc>
              <a:defRPr/>
            </a:pPr>
            <a:r>
              <a:rPr lang="en-US" b="1">
                <a:solidFill>
                  <a:srgbClr val="FFFFFF"/>
                </a:solidFill>
              </a:rPr>
              <a:t>Queries</a:t>
            </a:r>
            <a:endParaRPr/>
          </a:p>
        </p:txBody>
      </p:sp>
      <p:sp>
        <p:nvSpPr>
          <p:cNvPr id="18" name="TextBox 17"/>
          <p:cNvSpPr txBox="1"/>
          <p:nvPr/>
        </p:nvSpPr>
        <p:spPr bwMode="auto">
          <a:xfrm>
            <a:off x="2251710" y="2190999"/>
            <a:ext cx="2884316" cy="2169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  <a:defRPr/>
            </a:pPr>
            <a:r>
              <a:rPr>
                <a:solidFill>
                  <a:srgbClr val="444B57"/>
                </a:solidFill>
                <a:latin typeface="Calibri"/>
              </a:rPr>
              <a:t>Q1.1 (no joins) → Q4.1 (join-heavy)</a:t>
            </a:r>
            <a:endParaRPr/>
          </a:p>
        </p:txBody>
      </p:sp>
      <p:sp>
        <p:nvSpPr>
          <p:cNvPr id="19" name="Rounded Rectangle 18"/>
          <p:cNvSpPr/>
          <p:nvPr/>
        </p:nvSpPr>
        <p:spPr bwMode="auto">
          <a:xfrm>
            <a:off x="434340" y="2580667"/>
            <a:ext cx="1742188" cy="425196"/>
          </a:xfrm>
          <a:prstGeom prst="roundRect">
            <a:avLst>
              <a:gd name="adj" fmla="val 16667"/>
            </a:avLst>
          </a:prstGeom>
          <a:solidFill>
            <a:srgbClr val="0E73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b="1">
                <a:solidFill>
                  <a:srgbClr val="FFFFFF"/>
                </a:solidFill>
              </a:rPr>
              <a:t>Codecs</a:t>
            </a:r>
            <a:endParaRPr/>
          </a:p>
        </p:txBody>
      </p:sp>
      <p:sp>
        <p:nvSpPr>
          <p:cNvPr id="21" name="TextBox 20"/>
          <p:cNvSpPr txBox="1"/>
          <p:nvPr/>
        </p:nvSpPr>
        <p:spPr bwMode="auto">
          <a:xfrm>
            <a:off x="2251709" y="2684775"/>
            <a:ext cx="2884317" cy="2169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  <a:defRPr/>
            </a:pPr>
            <a:r>
              <a:rPr lang="en-US">
                <a:solidFill>
                  <a:srgbClr val="444B57"/>
                </a:solidFill>
                <a:latin typeface="Calibri"/>
              </a:rPr>
              <a:t>Uncompressed </a:t>
            </a:r>
            <a:r>
              <a:rPr>
                <a:solidFill>
                  <a:srgbClr val="444B57"/>
                </a:solidFill>
                <a:latin typeface="Calibri"/>
              </a:rPr>
              <a:t>· FLBP · RFOR</a:t>
            </a:r>
            <a:endParaRPr/>
          </a:p>
        </p:txBody>
      </p:sp>
      <p:sp>
        <p:nvSpPr>
          <p:cNvPr id="22" name="Rounded Rectangle 21"/>
          <p:cNvSpPr/>
          <p:nvPr/>
        </p:nvSpPr>
        <p:spPr bwMode="auto">
          <a:xfrm>
            <a:off x="434340" y="3074442"/>
            <a:ext cx="1742188" cy="669414"/>
          </a:xfrm>
          <a:prstGeom prst="roundRect">
            <a:avLst>
              <a:gd name="adj" fmla="val 16667"/>
            </a:avLst>
          </a:prstGeom>
          <a:solidFill>
            <a:srgbClr val="0E73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b="1">
                <a:solidFill>
                  <a:srgbClr val="FFFFFF"/>
                </a:solidFill>
              </a:rPr>
              <a:t>Decode Placements</a:t>
            </a:r>
            <a:endParaRPr/>
          </a:p>
        </p:txBody>
      </p:sp>
      <p:sp>
        <p:nvSpPr>
          <p:cNvPr id="30" name="TextBox 29"/>
          <p:cNvSpPr txBox="1"/>
          <p:nvPr/>
        </p:nvSpPr>
        <p:spPr bwMode="auto">
          <a:xfrm>
            <a:off x="2251709" y="3187550"/>
            <a:ext cx="2884316" cy="4431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  <a:defRPr/>
            </a:pPr>
            <a:r>
              <a:rPr lang="en-US">
                <a:solidFill>
                  <a:srgbClr val="444B57"/>
                </a:solidFill>
                <a:latin typeface="Calibri"/>
              </a:rPr>
              <a:t>Baselines: 	Uncompressed, Pre-decom</a:t>
            </a:r>
            <a:endParaRPr/>
          </a:p>
          <a:p>
            <a:pPr>
              <a:lnSpc>
                <a:spcPct val="105000"/>
              </a:lnSpc>
              <a:defRPr/>
            </a:pPr>
            <a:r>
              <a:rPr lang="en-US">
                <a:solidFill>
                  <a:srgbClr val="444B57"/>
                </a:solidFill>
                <a:latin typeface="Calibri"/>
              </a:rPr>
              <a:t>Fused: 	shared, registers</a:t>
            </a:r>
            <a:endParaRPr>
              <a:solidFill>
                <a:srgbClr val="444B57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 bwMode="auto">
          <a:xfrm>
            <a:off x="5211206" y="1071484"/>
            <a:ext cx="3498454" cy="1563131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28" name="TextBox 27"/>
          <p:cNvSpPr txBox="1"/>
          <p:nvPr/>
        </p:nvSpPr>
        <p:spPr bwMode="auto">
          <a:xfrm>
            <a:off x="5821678" y="1196193"/>
            <a:ext cx="2346951" cy="248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defRPr/>
            </a:pPr>
            <a:r>
              <a:rPr sz="1600" b="1">
                <a:solidFill>
                  <a:srgbClr val="0E737C"/>
                </a:solidFill>
                <a:latin typeface="Calibri"/>
              </a:rPr>
              <a:t>Configuration space swept</a:t>
            </a:r>
            <a:endParaRPr/>
          </a:p>
        </p:txBody>
      </p:sp>
      <p:sp>
        <p:nvSpPr>
          <p:cNvPr id="31" name="TextBox 30"/>
          <p:cNvSpPr txBox="1"/>
          <p:nvPr/>
        </p:nvSpPr>
        <p:spPr bwMode="auto">
          <a:xfrm>
            <a:off x="5400056" y="1584001"/>
            <a:ext cx="2971167" cy="766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150"/>
              </a:spcAft>
              <a:defRPr/>
            </a:pPr>
            <a:r>
              <a:rPr sz="1600" b="1">
                <a:solidFill>
                  <a:srgbClr val="1A1A2E"/>
                </a:solidFill>
                <a:latin typeface="Calibri"/>
              </a:rPr>
              <a:t>(query)  ×  (codec)  ×  (placement)  ×  (</a:t>
            </a:r>
            <a:r>
              <a:rPr lang="en-US" sz="1600" b="1">
                <a:solidFill>
                  <a:srgbClr val="1A1A2E"/>
                </a:solidFill>
                <a:latin typeface="Calibri"/>
              </a:rPr>
              <a:t>T, TPB</a:t>
            </a:r>
            <a:r>
              <a:rPr sz="1600" b="1">
                <a:solidFill>
                  <a:srgbClr val="1A1A2E"/>
                </a:solidFill>
                <a:latin typeface="Calibri"/>
              </a:rPr>
              <a:t>, IPT)</a:t>
            </a:r>
            <a:endParaRPr/>
          </a:p>
          <a:p>
            <a:pPr>
              <a:lnSpc>
                <a:spcPct val="106000"/>
              </a:lnSpc>
              <a:spcAft>
                <a:spcPts val="150"/>
              </a:spcAft>
              <a:defRPr/>
            </a:pPr>
            <a:r>
              <a:rPr>
                <a:solidFill>
                  <a:srgbClr val="444B57"/>
                </a:solidFill>
                <a:latin typeface="Calibri"/>
              </a:rPr>
              <a:t>Fastest config picked per (query, codec); </a:t>
            </a:r>
            <a:endParaRPr/>
          </a:p>
        </p:txBody>
      </p:sp>
      <p:sp>
        <p:nvSpPr>
          <p:cNvPr id="32" name="Rounded Rectangle 31"/>
          <p:cNvSpPr/>
          <p:nvPr/>
        </p:nvSpPr>
        <p:spPr bwMode="auto">
          <a:xfrm>
            <a:off x="5211206" y="2799613"/>
            <a:ext cx="3498454" cy="1781913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33" name="TextBox 32"/>
          <p:cNvSpPr txBox="1"/>
          <p:nvPr/>
        </p:nvSpPr>
        <p:spPr bwMode="auto">
          <a:xfrm>
            <a:off x="5866039" y="2909336"/>
            <a:ext cx="2197831" cy="248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defRPr/>
            </a:pPr>
            <a:r>
              <a:rPr sz="1600" b="1">
                <a:solidFill>
                  <a:srgbClr val="B51F1F"/>
                </a:solidFill>
                <a:latin typeface="Calibri"/>
              </a:rPr>
              <a:t>Profiling &amp; </a:t>
            </a:r>
            <a:r>
              <a:rPr lang="en-US" sz="1600" b="1">
                <a:solidFill>
                  <a:srgbClr val="B51F1F"/>
                </a:solidFill>
                <a:latin typeface="Calibri"/>
              </a:rPr>
              <a:t>A</a:t>
            </a:r>
            <a:r>
              <a:rPr sz="1600" b="1">
                <a:solidFill>
                  <a:srgbClr val="B51F1F"/>
                </a:solidFill>
                <a:latin typeface="Calibri"/>
              </a:rPr>
              <a:t>nalysis </a:t>
            </a:r>
            <a:r>
              <a:rPr lang="en-US" sz="1600" b="1">
                <a:solidFill>
                  <a:srgbClr val="B51F1F"/>
                </a:solidFill>
                <a:latin typeface="Calibri"/>
              </a:rPr>
              <a:t>S</a:t>
            </a:r>
            <a:r>
              <a:rPr sz="1600" b="1">
                <a:solidFill>
                  <a:srgbClr val="B51F1F"/>
                </a:solidFill>
                <a:latin typeface="Calibri"/>
              </a:rPr>
              <a:t>tack</a:t>
            </a:r>
            <a:endParaRPr/>
          </a:p>
        </p:txBody>
      </p:sp>
      <p:sp>
        <p:nvSpPr>
          <p:cNvPr id="34" name="TextBox 33"/>
          <p:cNvSpPr txBox="1"/>
          <p:nvPr/>
        </p:nvSpPr>
        <p:spPr bwMode="auto">
          <a:xfrm>
            <a:off x="5400056" y="3266106"/>
            <a:ext cx="3190197" cy="1005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375"/>
              </a:spcAft>
              <a:defRPr/>
            </a:pPr>
            <a:r>
              <a:rPr b="1">
                <a:solidFill>
                  <a:srgbClr val="B51F1F"/>
                </a:solidFill>
                <a:latin typeface="Calibri"/>
              </a:rPr>
              <a:t>■  </a:t>
            </a:r>
            <a:r>
              <a:rPr lang="en-US">
                <a:solidFill>
                  <a:srgbClr val="1A1A2E"/>
                </a:solidFill>
                <a:latin typeface="Calibri"/>
              </a:rPr>
              <a:t>NCU</a:t>
            </a:r>
            <a:r>
              <a:rPr>
                <a:solidFill>
                  <a:srgbClr val="1A1A2E"/>
                </a:solidFill>
                <a:latin typeface="Calibri"/>
              </a:rPr>
              <a:t> — </a:t>
            </a:r>
            <a:r>
              <a:rPr lang="en-US">
                <a:solidFill>
                  <a:srgbClr val="1A1A2E"/>
                </a:solidFill>
                <a:latin typeface="Calibri"/>
              </a:rPr>
              <a:t>O</a:t>
            </a:r>
            <a:r>
              <a:rPr>
                <a:solidFill>
                  <a:srgbClr val="1A1A2E"/>
                </a:solidFill>
                <a:latin typeface="Calibri"/>
              </a:rPr>
              <a:t>ccupancy</a:t>
            </a:r>
            <a:r>
              <a:rPr lang="en-US">
                <a:solidFill>
                  <a:srgbClr val="1A1A2E"/>
                </a:solidFill>
                <a:latin typeface="Calibri"/>
              </a:rPr>
              <a:t>, Shared Memory</a:t>
            </a:r>
            <a:r>
              <a:rPr>
                <a:solidFill>
                  <a:srgbClr val="1A1A2E"/>
                </a:solidFill>
                <a:latin typeface="Calibri"/>
              </a:rPr>
              <a:t>, DRAM throughput</a:t>
            </a:r>
            <a:endParaRPr/>
          </a:p>
          <a:p>
            <a:pPr>
              <a:lnSpc>
                <a:spcPct val="106000"/>
              </a:lnSpc>
              <a:spcAft>
                <a:spcPts val="375"/>
              </a:spcAft>
              <a:defRPr/>
            </a:pPr>
            <a:r>
              <a:rPr b="1">
                <a:solidFill>
                  <a:srgbClr val="B51F1F"/>
                </a:solidFill>
                <a:latin typeface="Calibri"/>
              </a:rPr>
              <a:t>■  </a:t>
            </a:r>
            <a:r>
              <a:rPr>
                <a:solidFill>
                  <a:srgbClr val="1A1A2E"/>
                </a:solidFill>
                <a:latin typeface="Calibri"/>
              </a:rPr>
              <a:t>ptxas — register</a:t>
            </a:r>
            <a:r>
              <a:rPr lang="en-US">
                <a:solidFill>
                  <a:srgbClr val="1A1A2E"/>
                </a:solidFill>
                <a:latin typeface="Calibri"/>
              </a:rPr>
              <a:t> count and </a:t>
            </a:r>
            <a:r>
              <a:rPr>
                <a:solidFill>
                  <a:srgbClr val="1A1A2E"/>
                </a:solidFill>
                <a:latin typeface="Calibri"/>
              </a:rPr>
              <a:t>spill</a:t>
            </a:r>
            <a:r>
              <a:rPr lang="en-US">
                <a:solidFill>
                  <a:srgbClr val="1A1A2E"/>
                </a:solidFill>
                <a:latin typeface="Calibri"/>
              </a:rPr>
              <a:t>s</a:t>
            </a:r>
            <a:endParaRPr>
              <a:solidFill>
                <a:srgbClr val="1A1A2E"/>
              </a:solidFill>
              <a:latin typeface="Calibri"/>
            </a:endParaRPr>
          </a:p>
          <a:p>
            <a:pPr>
              <a:lnSpc>
                <a:spcPct val="106000"/>
              </a:lnSpc>
              <a:spcAft>
                <a:spcPts val="375"/>
              </a:spcAft>
              <a:defRPr/>
            </a:pPr>
            <a:r>
              <a:rPr b="1">
                <a:solidFill>
                  <a:srgbClr val="B51F1F"/>
                </a:solidFill>
                <a:latin typeface="Calibri"/>
              </a:rPr>
              <a:t>■  </a:t>
            </a:r>
            <a:r>
              <a:rPr>
                <a:solidFill>
                  <a:srgbClr val="1A1A2E"/>
                </a:solidFill>
                <a:latin typeface="Calibri"/>
              </a:rPr>
              <a:t>Wall-clock — </a:t>
            </a:r>
            <a:r>
              <a:rPr lang="en-US">
                <a:solidFill>
                  <a:srgbClr val="1A1A2E"/>
                </a:solidFill>
                <a:latin typeface="Calibri"/>
              </a:rPr>
              <a:t>end to end execution time</a:t>
            </a:r>
            <a:endParaRPr>
              <a:solidFill>
                <a:srgbClr val="1A1A2E"/>
              </a:solidFill>
              <a:latin typeface="Calibri"/>
            </a:endParaRPr>
          </a:p>
        </p:txBody>
      </p:sp>
      <p:sp>
        <p:nvSpPr>
          <p:cNvPr id="35" name="Slide Number Placeholder 3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3FC239-7393-457C-9CC3-689C6419CA6F}" type="slidenum">
              <a:rPr lang="en-US"/>
              <a:t>8</a:t>
            </a:fld>
            <a:endParaRPr lang="en-US"/>
          </a:p>
        </p:txBody>
      </p:sp>
      <p:sp>
        <p:nvSpPr>
          <p:cNvPr id="25" name="TextBox 24"/>
          <p:cNvSpPr txBox="1"/>
          <p:nvPr/>
        </p:nvSpPr>
        <p:spPr bwMode="auto">
          <a:xfrm>
            <a:off x="2251709" y="3874685"/>
            <a:ext cx="2884316" cy="4431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  <a:defRPr/>
            </a:pP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T(tile size)</a:t>
            </a:r>
            <a:r>
              <a:rPr lang="en-US">
                <a:solidFill>
                  <a:srgbClr val="444B57"/>
                </a:solidFill>
                <a:latin typeface="Calibri"/>
              </a:rPr>
              <a:t> · 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TPB(Threads Per Block)</a:t>
            </a:r>
            <a:r>
              <a:rPr lang="en-US">
                <a:solidFill>
                  <a:srgbClr val="444B57"/>
                </a:solidFill>
                <a:latin typeface="Calibri"/>
              </a:rPr>
              <a:t> · 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 IPT(Integers Per Thread)</a:t>
            </a:r>
            <a:endParaRPr b="1">
              <a:solidFill>
                <a:schemeClr val="tx1">
                  <a:lumMod val="65000"/>
                  <a:lumOff val="35000"/>
                </a:schemeClr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 advTm="1347"/>
    </mc:Choice>
    <mc:Fallback xmlns:w="http://schemas.openxmlformats.org/wordprocessingml/2006/main" xmlns:m="http://schemas.openxmlformats.org/officeDocument/2006/math" xmlns="">
      <p:transition advClick="1" advTm="1347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3FC239-7393-457C-9CC3-689C6419CA6F}" type="slidenum">
              <a:rPr lang="en-US"/>
              <a:t>9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 bwMode="auto">
          <a:xfrm>
            <a:off x="2190552" y="4173073"/>
            <a:ext cx="4762895" cy="633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defRPr/>
            </a:pPr>
            <a:r>
              <a:rPr sz="2000">
                <a:solidFill>
                  <a:srgbClr val="C00000"/>
                </a:solidFill>
                <a:latin typeface="Calibri"/>
              </a:rPr>
              <a:t>RFOR </a:t>
            </a:r>
            <a:r>
              <a:rPr lang="en-US" sz="2000">
                <a:solidFill>
                  <a:srgbClr val="C00000"/>
                </a:solidFill>
                <a:latin typeface="Calibri"/>
              </a:rPr>
              <a:t>has higher compression </a:t>
            </a:r>
            <a:r>
              <a:rPr sz="2000">
                <a:solidFill>
                  <a:srgbClr val="C00000"/>
                </a:solidFill>
                <a:latin typeface="Calibri"/>
              </a:rPr>
              <a:t>ratio; FLBP decode is faster.</a:t>
            </a:r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8675" y="1819112"/>
          <a:ext cx="3435362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7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76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6858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/>
                        <a:t>Fastlanes</a:t>
                      </a:r>
                      <a:endParaRPr/>
                    </a:p>
                  </a:txBody>
                  <a:tcPr>
                    <a:solidFill>
                      <a:srgbClr val="B948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/>
                        <a:t>RFOR</a:t>
                      </a:r>
                      <a:endParaRPr/>
                    </a:p>
                  </a:txBody>
                  <a:tcPr>
                    <a:solidFill>
                      <a:srgbClr val="5C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+mn-lt"/>
                        </a:rPr>
                        <a:t>FOR + bitpack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+mn-lt"/>
                        </a:rPr>
                        <a:t>RLE + FOR + bitpack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/>
                        <a:t>Simpler but highly data parallel</a:t>
                      </a:r>
                      <a:endParaRPr/>
                    </a:p>
                    <a:p>
                      <a:pPr marL="0" marR="0" lvl="0" indent="0" algn="l" defTabSz="6858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200"/>
                        <a:t>Slightly heavy but higher compression ratio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+mn-lt"/>
                        </a:rPr>
                        <a:t>Faster </a:t>
                      </a:r>
                      <a:endParaRPr/>
                    </a:p>
                    <a:p>
                      <a:pPr marL="0" marR="0" lvl="0" indent="0" algn="l" defTabSz="6858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+mn-lt"/>
                        </a:rPr>
                        <a:t>(Warp-parallel decode) 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1200">
                          <a:solidFill>
                            <a:srgbClr val="1A1A2E"/>
                          </a:solidFill>
                          <a:latin typeface="+mn-lt"/>
                        </a:rPr>
                        <a:t>Slightly slower (Cooperative decode in Thread block)</a:t>
                      </a:r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 bwMode="auto">
          <a:xfrm>
            <a:off x="480059" y="507492"/>
            <a:ext cx="3805755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r>
              <a:rPr lang="en-US" sz="2250" b="1">
                <a:solidFill>
                  <a:srgbClr val="1A1A2E"/>
                </a:solidFill>
                <a:latin typeface="Calibri"/>
              </a:rPr>
              <a:t>Codecs (Compression Methods)</a:t>
            </a:r>
            <a:endParaRPr sz="2250" b="1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493776" y="1110996"/>
            <a:ext cx="1645920" cy="28575"/>
          </a:xfrm>
          <a:prstGeom prst="rect">
            <a:avLst/>
          </a:prstGeom>
          <a:solidFill>
            <a:srgbClr val="B5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50"/>
          </a:p>
        </p:txBody>
      </p:sp>
      <p:grpSp>
        <p:nvGrpSpPr>
          <p:cNvPr id="4" name="Group 3"/>
          <p:cNvGrpSpPr/>
          <p:nvPr/>
        </p:nvGrpSpPr>
        <p:grpSpPr bwMode="auto">
          <a:xfrm>
            <a:off x="3857377" y="2102102"/>
            <a:ext cx="5149641" cy="1709859"/>
            <a:chOff x="3857377" y="2102102"/>
            <a:chExt cx="5149641" cy="1709859"/>
          </a:xfrm>
        </p:grpSpPr>
        <p:pic>
          <p:nvPicPr>
            <p:cNvPr id="7" name="Picture 6" descr="A comparison of a comparison of a comparison of a comparison of a comparison of a comparison of a comparison of a comparison of a comparison of a comparison of a comparison of a comparison of a comparison of&#10;&#10;AI-generated content may be incorrect.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129" b="24176"/>
            <a:stretch/>
          </p:blipFill>
          <p:spPr bwMode="auto">
            <a:xfrm>
              <a:off x="3857377" y="2102102"/>
              <a:ext cx="5149641" cy="1371268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 bwMode="auto">
            <a:xfrm>
              <a:off x="5649747" y="3504184"/>
              <a:ext cx="18069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/>
                <a:t>Codecs Comparison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 advTm="89439"/>
    </mc:Choice>
    <mc:Fallback xmlns:w="http://schemas.openxmlformats.org/wordprocessingml/2006/main" xmlns:m="http://schemas.openxmlformats.org/officeDocument/2006/math" xmlns="">
      <p:transition advClick="1" advTm="894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5" name="TextBox 4"/>
          <p:cNvSpPr txBox="1"/>
          <p:nvPr/>
        </p:nvSpPr>
        <p:spPr bwMode="auto">
          <a:xfrm>
            <a:off x="480060" y="507492"/>
            <a:ext cx="5484024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r>
              <a:rPr lang="en-US" sz="2250" b="1">
                <a:solidFill>
                  <a:srgbClr val="1A1A2E"/>
                </a:solidFill>
                <a:latin typeface="Calibri"/>
              </a:rPr>
              <a:t>Decode Placement: Where to decompress?</a:t>
            </a:r>
            <a:endParaRPr sz="2250" b="1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493776" y="1110996"/>
            <a:ext cx="1645920" cy="28575"/>
          </a:xfrm>
          <a:prstGeom prst="rect">
            <a:avLst/>
          </a:prstGeom>
          <a:solidFill>
            <a:srgbClr val="B5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600"/>
          </a:p>
        </p:txBody>
      </p:sp>
      <p:sp>
        <p:nvSpPr>
          <p:cNvPr id="58" name="TextBox 57"/>
          <p:cNvSpPr txBox="1"/>
          <p:nvPr/>
        </p:nvSpPr>
        <p:spPr bwMode="auto">
          <a:xfrm>
            <a:off x="394432" y="846873"/>
            <a:ext cx="1990628" cy="278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/>
            </a:pPr>
            <a:r>
              <a:rPr lang="en-US" sz="1200" b="1" i="1">
                <a:solidFill>
                  <a:srgbClr val="444B57"/>
                </a:solidFill>
                <a:latin typeface="Calibri"/>
              </a:rPr>
              <a:t>Setup: </a:t>
            </a:r>
            <a:r>
              <a:rPr lang="en-US" sz="1200" i="1">
                <a:solidFill>
                  <a:srgbClr val="444B57"/>
                </a:solidFill>
                <a:latin typeface="Calibri"/>
              </a:rPr>
              <a:t>FLBP, (BT,IPT)=(128,8)</a:t>
            </a:r>
            <a:endParaRPr/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3FC239-7393-457C-9CC3-689C6419CA6F}" type="slidenum">
              <a:rPr lang="en-US"/>
              <a:t>10</a:t>
            </a:fld>
            <a:endParaRPr lang="en-US"/>
          </a:p>
        </p:txBody>
      </p:sp>
      <p:grpSp>
        <p:nvGrpSpPr>
          <p:cNvPr id="28" name="Group 27"/>
          <p:cNvGrpSpPr/>
          <p:nvPr/>
        </p:nvGrpSpPr>
        <p:grpSpPr bwMode="auto">
          <a:xfrm>
            <a:off x="4458502" y="1524241"/>
            <a:ext cx="4522539" cy="2352453"/>
            <a:chOff x="4379240" y="406378"/>
            <a:chExt cx="4522539" cy="2352453"/>
          </a:xfrm>
        </p:grpSpPr>
        <p:grpSp>
          <p:nvGrpSpPr>
            <p:cNvPr id="27" name="Group 26"/>
            <p:cNvGrpSpPr/>
            <p:nvPr/>
          </p:nvGrpSpPr>
          <p:grpSpPr bwMode="auto">
            <a:xfrm>
              <a:off x="4379240" y="1040823"/>
              <a:ext cx="4522539" cy="1718008"/>
              <a:chOff x="4379240" y="1040823"/>
              <a:chExt cx="4522539" cy="1718008"/>
            </a:xfrm>
          </p:grpSpPr>
          <p:pic>
            <p:nvPicPr>
              <p:cNvPr id="15" name="Picture 14" descr="A graph with numbers and a green bar&#10;&#10;AI-generated content may be incorrect.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/>
            </p:blipFill>
            <p:spPr bwMode="auto">
              <a:xfrm>
                <a:off x="4379240" y="1040823"/>
                <a:ext cx="4522539" cy="1718008"/>
              </a:xfrm>
              <a:prstGeom prst="rect">
                <a:avLst/>
              </a:prstGeom>
            </p:spPr>
          </p:pic>
          <p:sp>
            <p:nvSpPr>
              <p:cNvPr id="4" name="5-Point Star 3"/>
              <p:cNvSpPr/>
              <p:nvPr/>
            </p:nvSpPr>
            <p:spPr bwMode="auto">
              <a:xfrm>
                <a:off x="7711801" y="1472397"/>
                <a:ext cx="102648" cy="9815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rgbClr val="00B0F0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" name="5-Point Star 6"/>
              <p:cNvSpPr/>
              <p:nvPr/>
            </p:nvSpPr>
            <p:spPr bwMode="auto">
              <a:xfrm>
                <a:off x="5964084" y="2241080"/>
                <a:ext cx="102648" cy="98157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rgbClr val="00B0F0"/>
              </a:solidFill>
              <a:ln w="12700">
                <a:solidFill>
                  <a:srgbClr val="0070C0"/>
                </a:solidFill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17" name="TextBox 16"/>
            <p:cNvSpPr txBox="1"/>
            <p:nvPr/>
          </p:nvSpPr>
          <p:spPr bwMode="auto">
            <a:xfrm>
              <a:off x="7495945" y="406378"/>
              <a:ext cx="14013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1200">
                  <a:solidFill>
                    <a:schemeClr val="accent1">
                      <a:lumMod val="75000"/>
                    </a:schemeClr>
                  </a:solidFill>
                  <a:latin typeface="+mn-lt"/>
                </a:rPr>
                <a:t>Q1.1: 4 cols, 0 joins</a:t>
              </a:r>
              <a:endParaRPr/>
            </a:p>
            <a:p>
              <a:pPr>
                <a:defRPr/>
              </a:pPr>
              <a:r>
                <a:rPr lang="en-US" sz="1200">
                  <a:solidFill>
                    <a:schemeClr val="accent1">
                      <a:lumMod val="75000"/>
                    </a:schemeClr>
                  </a:solidFill>
                  <a:latin typeface="+mn-lt"/>
                </a:rPr>
                <a:t>Q4.1: 6 cols, 4 joins</a:t>
              </a:r>
              <a:endParaRPr/>
            </a:p>
          </p:txBody>
        </p:sp>
      </p:grpSp>
      <p:sp>
        <p:nvSpPr>
          <p:cNvPr id="31" name="Rounded Rectangle 30"/>
          <p:cNvSpPr/>
          <p:nvPr/>
        </p:nvSpPr>
        <p:spPr bwMode="auto">
          <a:xfrm>
            <a:off x="480060" y="1361233"/>
            <a:ext cx="3498382" cy="1579638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32" name="Rounded Rectangle 31"/>
          <p:cNvSpPr/>
          <p:nvPr/>
        </p:nvSpPr>
        <p:spPr bwMode="auto">
          <a:xfrm>
            <a:off x="480060" y="1361233"/>
            <a:ext cx="3498382" cy="4800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600"/>
              <a:t>Shared</a:t>
            </a:r>
            <a:endParaRPr/>
          </a:p>
        </p:txBody>
      </p:sp>
      <p:sp>
        <p:nvSpPr>
          <p:cNvPr id="33" name="TextBox 32"/>
          <p:cNvSpPr txBox="1"/>
          <p:nvPr/>
        </p:nvSpPr>
        <p:spPr bwMode="auto">
          <a:xfrm>
            <a:off x="629352" y="1898916"/>
            <a:ext cx="3349090" cy="919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lnSpc>
                <a:spcPct val="108000"/>
              </a:lnSpc>
              <a:buFont typeface="Arial"/>
              <a:buChar char="•"/>
              <a:defRPr/>
            </a:pPr>
            <a:r>
              <a:rPr>
                <a:solidFill>
                  <a:srgbClr val="444B57"/>
                </a:solidFill>
                <a:latin typeface="+mn-lt"/>
              </a:rPr>
              <a:t>De</a:t>
            </a:r>
            <a:r>
              <a:rPr lang="en-US">
                <a:solidFill>
                  <a:srgbClr val="444B57"/>
                </a:solidFill>
                <a:latin typeface="+mn-lt"/>
              </a:rPr>
              <a:t>compress</a:t>
            </a:r>
            <a:r>
              <a:rPr>
                <a:solidFill>
                  <a:srgbClr val="444B57"/>
                </a:solidFill>
                <a:latin typeface="+mn-lt"/>
              </a:rPr>
              <a:t> into a shared-memory staging buffer</a:t>
            </a:r>
            <a:endParaRPr lang="en-US">
              <a:solidFill>
                <a:srgbClr val="444B57"/>
              </a:solidFill>
              <a:latin typeface="+mn-lt"/>
            </a:endParaRPr>
          </a:p>
          <a:p>
            <a:pPr marL="285750" indent="-285750">
              <a:lnSpc>
                <a:spcPct val="108000"/>
              </a:lnSpc>
              <a:buFont typeface="Arial"/>
              <a:buChar char="•"/>
              <a:defRPr/>
            </a:pPr>
            <a:r>
              <a:rPr lang="en-US">
                <a:latin typeface="+mn-lt"/>
              </a:rPr>
              <a:t>Pressure grows with the </a:t>
            </a:r>
            <a:r>
              <a:rPr lang="en-US" b="1">
                <a:solidFill>
                  <a:schemeClr val="tx1"/>
                </a:solidFill>
                <a:latin typeface="+mn-lt"/>
              </a:rPr>
              <a:t>num of cols projected</a:t>
            </a:r>
            <a:endParaRPr/>
          </a:p>
        </p:txBody>
      </p:sp>
      <p:sp>
        <p:nvSpPr>
          <p:cNvPr id="35" name="Rounded Rectangle 34"/>
          <p:cNvSpPr/>
          <p:nvPr/>
        </p:nvSpPr>
        <p:spPr bwMode="auto">
          <a:xfrm>
            <a:off x="480060" y="3121969"/>
            <a:ext cx="3498382" cy="1718007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36" name="Rounded Rectangle 35"/>
          <p:cNvSpPr/>
          <p:nvPr/>
        </p:nvSpPr>
        <p:spPr bwMode="auto">
          <a:xfrm>
            <a:off x="480060" y="3121970"/>
            <a:ext cx="3498382" cy="480060"/>
          </a:xfrm>
          <a:prstGeom prst="roundRect">
            <a:avLst>
              <a:gd name="adj" fmla="val 16667"/>
            </a:avLst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600"/>
              <a:t>Registers</a:t>
            </a:r>
            <a:endParaRPr sz="1600"/>
          </a:p>
        </p:txBody>
      </p:sp>
      <p:sp>
        <p:nvSpPr>
          <p:cNvPr id="37" name="TextBox 36"/>
          <p:cNvSpPr txBox="1"/>
          <p:nvPr/>
        </p:nvSpPr>
        <p:spPr bwMode="auto">
          <a:xfrm>
            <a:off x="629352" y="3602030"/>
            <a:ext cx="3349090" cy="1146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lnSpc>
                <a:spcPct val="108000"/>
              </a:lnSpc>
              <a:buFont typeface="Arial"/>
              <a:buChar char="•"/>
              <a:defRPr/>
            </a:pPr>
            <a:r>
              <a:rPr lang="en-US">
                <a:solidFill>
                  <a:srgbClr val="444B57"/>
                </a:solidFill>
                <a:latin typeface="+mn-lt"/>
              </a:rPr>
              <a:t>No staging, </a:t>
            </a:r>
            <a:r>
              <a:rPr>
                <a:solidFill>
                  <a:srgbClr val="444B57"/>
                </a:solidFill>
                <a:latin typeface="+mn-lt"/>
              </a:rPr>
              <a:t>Dec</a:t>
            </a:r>
            <a:r>
              <a:rPr lang="en-US">
                <a:solidFill>
                  <a:srgbClr val="444B57"/>
                </a:solidFill>
                <a:latin typeface="+mn-lt"/>
              </a:rPr>
              <a:t>ompress</a:t>
            </a:r>
            <a:r>
              <a:rPr>
                <a:solidFill>
                  <a:srgbClr val="444B57"/>
                </a:solidFill>
                <a:latin typeface="+mn-lt"/>
              </a:rPr>
              <a:t> straight into registers</a:t>
            </a:r>
            <a:r>
              <a:rPr lang="en-US">
                <a:solidFill>
                  <a:srgbClr val="444B57"/>
                </a:solidFill>
                <a:latin typeface="+mn-lt"/>
              </a:rPr>
              <a:t>.</a:t>
            </a:r>
            <a:endParaRPr/>
          </a:p>
          <a:p>
            <a:pPr marL="285750" indent="-285750">
              <a:lnSpc>
                <a:spcPct val="108000"/>
              </a:lnSpc>
              <a:buFont typeface="Arial"/>
              <a:buChar char="•"/>
              <a:defRPr/>
            </a:pPr>
            <a:r>
              <a:rPr lang="en-US">
                <a:solidFill>
                  <a:schemeClr val="tx1"/>
                </a:solidFill>
                <a:latin typeface="+mn-lt"/>
              </a:rPr>
              <a:t>Pressure grows with </a:t>
            </a:r>
            <a:r>
              <a:rPr lang="en-US" b="1">
                <a:solidFill>
                  <a:schemeClr val="tx1"/>
                </a:solidFill>
                <a:latin typeface="+mn-lt"/>
              </a:rPr>
              <a:t>num of cols </a:t>
            </a:r>
            <a:r>
              <a:rPr lang="en-US">
                <a:solidFill>
                  <a:schemeClr val="tx1"/>
                </a:solidFill>
                <a:latin typeface="+mn-lt"/>
              </a:rPr>
              <a:t>AND </a:t>
            </a:r>
            <a:r>
              <a:rPr lang="en-US" b="1">
                <a:solidFill>
                  <a:schemeClr val="tx1"/>
                </a:solidFill>
                <a:latin typeface="+mn-lt"/>
              </a:rPr>
              <a:t>Query complexity</a:t>
            </a:r>
            <a:endParaRPr/>
          </a:p>
          <a:p>
            <a:pPr marL="285750" indent="-285750">
              <a:lnSpc>
                <a:spcPct val="108000"/>
              </a:lnSpc>
              <a:buFont typeface="Arial"/>
              <a:buChar char="•"/>
              <a:defRPr/>
            </a:pPr>
            <a:r>
              <a:rPr lang="en-US">
                <a:solidFill>
                  <a:schemeClr val="tx1"/>
                </a:solidFill>
                <a:latin typeface="+mn-lt"/>
              </a:rPr>
              <a:t>Regs Spilled  Slowdown</a:t>
            </a:r>
            <a:endParaRPr lang="en-US" b="1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 advTm="108388"/>
    </mc:Choice>
    <mc:Fallback xmlns:w="http://schemas.openxmlformats.org/wordprocessingml/2006/main" xmlns:m="http://schemas.openxmlformats.org/officeDocument/2006/math" xmlns="">
      <p:transition advClick="1" advTm="1083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5" name="TextBox 4"/>
          <p:cNvSpPr txBox="1"/>
          <p:nvPr/>
        </p:nvSpPr>
        <p:spPr bwMode="auto">
          <a:xfrm>
            <a:off x="480059" y="507492"/>
            <a:ext cx="5786794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r>
              <a:rPr lang="en-US" sz="2250" b="1">
                <a:solidFill>
                  <a:srgbClr val="1A1A2E"/>
                </a:solidFill>
                <a:latin typeface="Calibri"/>
              </a:rPr>
              <a:t>Decode Placement: Where to decompress?</a:t>
            </a:r>
            <a:endParaRPr/>
          </a:p>
        </p:txBody>
      </p:sp>
      <p:sp>
        <p:nvSpPr>
          <p:cNvPr id="6" name="Rectangle 5"/>
          <p:cNvSpPr/>
          <p:nvPr/>
        </p:nvSpPr>
        <p:spPr bwMode="auto">
          <a:xfrm>
            <a:off x="493776" y="1110996"/>
            <a:ext cx="1645920" cy="28575"/>
          </a:xfrm>
          <a:prstGeom prst="rect">
            <a:avLst/>
          </a:prstGeom>
          <a:solidFill>
            <a:srgbClr val="B5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600"/>
          </a:p>
        </p:txBody>
      </p:sp>
      <p:sp>
        <p:nvSpPr>
          <p:cNvPr id="58" name="TextBox 57"/>
          <p:cNvSpPr txBox="1"/>
          <p:nvPr/>
        </p:nvSpPr>
        <p:spPr bwMode="auto">
          <a:xfrm>
            <a:off x="394432" y="846873"/>
            <a:ext cx="1990628" cy="278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/>
            </a:pPr>
            <a:r>
              <a:rPr lang="en-US" sz="1200" b="1" i="1">
                <a:solidFill>
                  <a:srgbClr val="444B57"/>
                </a:solidFill>
                <a:latin typeface="Calibri"/>
              </a:rPr>
              <a:t>Setup: </a:t>
            </a:r>
            <a:r>
              <a:rPr lang="en-US" sz="1200" i="1">
                <a:solidFill>
                  <a:srgbClr val="444B57"/>
                </a:solidFill>
                <a:latin typeface="Calibri"/>
              </a:rPr>
              <a:t>FLBP, (BT,IPT)=(128,8)</a:t>
            </a:r>
            <a:endParaRPr/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3FC239-7393-457C-9CC3-689C6419CA6F}" type="slidenum">
              <a:rPr lang="en-US"/>
              <a:t>11</a:t>
            </a:fld>
            <a:endParaRPr lang="en-US"/>
          </a:p>
        </p:txBody>
      </p:sp>
      <p:grpSp>
        <p:nvGrpSpPr>
          <p:cNvPr id="3" name="Group 2"/>
          <p:cNvGrpSpPr/>
          <p:nvPr/>
        </p:nvGrpSpPr>
        <p:grpSpPr bwMode="auto">
          <a:xfrm>
            <a:off x="4294355" y="449783"/>
            <a:ext cx="4604544" cy="3921917"/>
            <a:chOff x="4294355" y="449783"/>
            <a:chExt cx="4604544" cy="3921917"/>
          </a:xfrm>
        </p:grpSpPr>
        <p:grpSp>
          <p:nvGrpSpPr>
            <p:cNvPr id="28" name="Group 27"/>
            <p:cNvGrpSpPr/>
            <p:nvPr/>
          </p:nvGrpSpPr>
          <p:grpSpPr bwMode="auto">
            <a:xfrm>
              <a:off x="4376359" y="449783"/>
              <a:ext cx="4522540" cy="2180513"/>
              <a:chOff x="4379240" y="578318"/>
              <a:chExt cx="4522540" cy="2180513"/>
            </a:xfrm>
          </p:grpSpPr>
          <p:grpSp>
            <p:nvGrpSpPr>
              <p:cNvPr id="27" name="Group 26"/>
              <p:cNvGrpSpPr/>
              <p:nvPr/>
            </p:nvGrpSpPr>
            <p:grpSpPr bwMode="auto">
              <a:xfrm>
                <a:off x="4379240" y="1040823"/>
                <a:ext cx="4522539" cy="1718008"/>
                <a:chOff x="4379240" y="1040823"/>
                <a:chExt cx="4522539" cy="1718008"/>
              </a:xfrm>
            </p:grpSpPr>
            <p:pic>
              <p:nvPicPr>
                <p:cNvPr id="15" name="Picture 14" descr="A graph with numbers and a green bar&#10;&#10;AI-generated content may be incorrect."/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/>
              </p:blipFill>
              <p:spPr bwMode="auto">
                <a:xfrm>
                  <a:off x="4379240" y="1040823"/>
                  <a:ext cx="4522539" cy="1718008"/>
                </a:xfrm>
                <a:prstGeom prst="rect">
                  <a:avLst/>
                </a:prstGeom>
              </p:spPr>
            </p:pic>
            <p:sp>
              <p:nvSpPr>
                <p:cNvPr id="4" name="5-Point Star 3"/>
                <p:cNvSpPr/>
                <p:nvPr/>
              </p:nvSpPr>
              <p:spPr bwMode="auto">
                <a:xfrm>
                  <a:off x="7711801" y="1472397"/>
                  <a:ext cx="102648" cy="98157"/>
                </a:xfrm>
                <a:prstGeom prst="star5">
                  <a:avLst>
                    <a:gd name="adj" fmla="val 19098"/>
                    <a:gd name="hf" fmla="val 105146"/>
                    <a:gd name="vf" fmla="val 110557"/>
                  </a:avLst>
                </a:prstGeom>
                <a:solidFill>
                  <a:srgbClr val="00B0F0"/>
                </a:solidFill>
                <a:ln w="12700">
                  <a:solidFill>
                    <a:srgbClr val="0070C0"/>
                  </a:solidFill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7" name="5-Point Star 6"/>
                <p:cNvSpPr/>
                <p:nvPr/>
              </p:nvSpPr>
              <p:spPr bwMode="auto">
                <a:xfrm>
                  <a:off x="5964084" y="2241080"/>
                  <a:ext cx="102648" cy="98157"/>
                </a:xfrm>
                <a:prstGeom prst="star5">
                  <a:avLst>
                    <a:gd name="adj" fmla="val 19098"/>
                    <a:gd name="hf" fmla="val 105146"/>
                    <a:gd name="vf" fmla="val 110557"/>
                  </a:avLst>
                </a:prstGeom>
                <a:solidFill>
                  <a:srgbClr val="00B0F0"/>
                </a:solidFill>
                <a:ln w="12700">
                  <a:solidFill>
                    <a:srgbClr val="0070C0"/>
                  </a:solidFill>
                </a:ln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sp>
            <p:nvSpPr>
              <p:cNvPr id="17" name="TextBox 16"/>
              <p:cNvSpPr txBox="1"/>
              <p:nvPr/>
            </p:nvSpPr>
            <p:spPr bwMode="auto">
              <a:xfrm>
                <a:off x="7500434" y="578318"/>
                <a:ext cx="14013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sz="1200">
                    <a:solidFill>
                      <a:schemeClr val="accent1">
                        <a:lumMod val="75000"/>
                      </a:schemeClr>
                    </a:solidFill>
                    <a:latin typeface="+mn-lt"/>
                  </a:rPr>
                  <a:t>Q1.1: 4 cols, 0 joins</a:t>
                </a:r>
                <a:endParaRPr/>
              </a:p>
              <a:p>
                <a:pPr>
                  <a:defRPr/>
                </a:pPr>
                <a:r>
                  <a:rPr lang="en-US" sz="1200">
                    <a:solidFill>
                      <a:schemeClr val="accent1">
                        <a:lumMod val="75000"/>
                      </a:schemeClr>
                    </a:solidFill>
                    <a:latin typeface="+mn-lt"/>
                  </a:rPr>
                  <a:t>Q4.1: 6 cols, 4 joins</a:t>
                </a:r>
                <a:endParaRPr/>
              </a:p>
            </p:txBody>
          </p:sp>
        </p:grpSp>
        <p:pic>
          <p:nvPicPr>
            <p:cNvPr id="9" name="Picture 8" descr="A graph with numbers and a line&#10;&#10;AI-generated content may be incorrect.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/>
          </p:blipFill>
          <p:spPr bwMode="auto">
            <a:xfrm>
              <a:off x="4294355" y="2622541"/>
              <a:ext cx="4604544" cy="1749159"/>
            </a:xfrm>
            <a:prstGeom prst="rect">
              <a:avLst/>
            </a:prstGeom>
          </p:spPr>
        </p:pic>
      </p:grpSp>
      <p:grpSp>
        <p:nvGrpSpPr>
          <p:cNvPr id="25" name="Group 24"/>
          <p:cNvGrpSpPr/>
          <p:nvPr/>
        </p:nvGrpSpPr>
        <p:grpSpPr bwMode="auto">
          <a:xfrm>
            <a:off x="413226" y="2067536"/>
            <a:ext cx="3789806" cy="1541937"/>
            <a:chOff x="411350" y="2979423"/>
            <a:chExt cx="3878243" cy="1073998"/>
          </a:xfrm>
        </p:grpSpPr>
        <p:sp>
          <p:nvSpPr>
            <p:cNvPr id="20" name="Rounded Rectangle 19"/>
            <p:cNvSpPr/>
            <p:nvPr/>
          </p:nvSpPr>
          <p:spPr bwMode="auto">
            <a:xfrm>
              <a:off x="411350" y="2979423"/>
              <a:ext cx="3878243" cy="1073998"/>
            </a:xfrm>
            <a:prstGeom prst="roundRect">
              <a:avLst>
                <a:gd name="adj" fmla="val 16667"/>
              </a:avLst>
            </a:prstGeom>
            <a:solidFill>
              <a:srgbClr val="F4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1050"/>
            </a:p>
          </p:txBody>
        </p:sp>
        <p:sp>
          <p:nvSpPr>
            <p:cNvPr id="21" name="TextBox 20"/>
            <p:cNvSpPr txBox="1"/>
            <p:nvPr/>
          </p:nvSpPr>
          <p:spPr bwMode="auto">
            <a:xfrm>
              <a:off x="439995" y="3144168"/>
              <a:ext cx="38209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i="1">
                  <a:solidFill>
                    <a:schemeClr val="tx1"/>
                  </a:solidFill>
                  <a:latin typeface="+mn-lt"/>
                </a:rPr>
                <a:t>Q1.1(Simple Scan): No spill risk Register wins</a:t>
              </a:r>
              <a:endParaRPr/>
            </a:p>
          </p:txBody>
        </p:sp>
        <p:sp>
          <p:nvSpPr>
            <p:cNvPr id="22" name="TextBox 21"/>
            <p:cNvSpPr txBox="1"/>
            <p:nvPr/>
          </p:nvSpPr>
          <p:spPr bwMode="auto">
            <a:xfrm>
              <a:off x="439995" y="3451944"/>
              <a:ext cx="38209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i="1">
                  <a:solidFill>
                    <a:schemeClr val="tx1"/>
                  </a:solidFill>
                  <a:latin typeface="+mn-lt"/>
                </a:rPr>
                <a:t>Q4.1(Join Heavy): Already high reg count  decode in reg, adds to the spill slowdown </a:t>
              </a:r>
              <a:endParaRPr/>
            </a:p>
          </p:txBody>
        </p:sp>
      </p:grpSp>
      <p:sp>
        <p:nvSpPr>
          <p:cNvPr id="56" name="TextBox 55"/>
          <p:cNvSpPr txBox="1"/>
          <p:nvPr/>
        </p:nvSpPr>
        <p:spPr bwMode="auto">
          <a:xfrm>
            <a:off x="651642" y="4296627"/>
            <a:ext cx="78407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b="1">
                <a:solidFill>
                  <a:srgbClr val="C00000"/>
                </a:solidFill>
                <a:latin typeface="Calibri"/>
              </a:rPr>
              <a:t>Register</a:t>
            </a:r>
            <a:r>
              <a:rPr lang="en-US" sz="2000">
                <a:solidFill>
                  <a:srgbClr val="C00000"/>
                </a:solidFill>
                <a:latin typeface="Calibri"/>
              </a:rPr>
              <a:t> wins in narrow/simple Queries until complexity overflows registers. Then </a:t>
            </a:r>
            <a:r>
              <a:rPr lang="en-US" sz="2000" b="1">
                <a:solidFill>
                  <a:srgbClr val="C00000"/>
                </a:solidFill>
                <a:latin typeface="Calibri"/>
              </a:rPr>
              <a:t>Shared’s </a:t>
            </a:r>
            <a:r>
              <a:rPr lang="en-US" sz="2000">
                <a:solidFill>
                  <a:srgbClr val="C00000"/>
                </a:solidFill>
                <a:latin typeface="Calibri"/>
              </a:rPr>
              <a:t>staging buffer pays off.</a:t>
            </a:r>
            <a:endParaRPr lang="en-US" sz="2000">
              <a:solidFill>
                <a:srgbClr val="C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 advTm="61143"/>
    </mc:Choice>
    <mc:Fallback xmlns:w="http://schemas.openxmlformats.org/wordprocessingml/2006/main" xmlns:m="http://schemas.openxmlformats.org/officeDocument/2006/math" xmlns="">
      <p:transition advClick="1" advTm="611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5" name="TextBox 4"/>
          <p:cNvSpPr txBox="1"/>
          <p:nvPr/>
        </p:nvSpPr>
        <p:spPr bwMode="auto">
          <a:xfrm>
            <a:off x="480060" y="507492"/>
            <a:ext cx="464820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r>
              <a:rPr lang="en-US" sz="2250" b="1">
                <a:solidFill>
                  <a:srgbClr val="1A1A2E"/>
                </a:solidFill>
                <a:latin typeface="Calibri"/>
              </a:rPr>
              <a:t>Tile Configuration: Work Per Thread</a:t>
            </a:r>
            <a:endParaRPr sz="2250" b="1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493776" y="1110996"/>
            <a:ext cx="1645920" cy="28575"/>
          </a:xfrm>
          <a:prstGeom prst="rect">
            <a:avLst/>
          </a:prstGeom>
          <a:solidFill>
            <a:srgbClr val="B5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600"/>
          </a:p>
        </p:txBody>
      </p:sp>
      <p:sp>
        <p:nvSpPr>
          <p:cNvPr id="58" name="TextBox 57"/>
          <p:cNvSpPr txBox="1"/>
          <p:nvPr/>
        </p:nvSpPr>
        <p:spPr bwMode="auto">
          <a:xfrm>
            <a:off x="379192" y="851994"/>
            <a:ext cx="2645948" cy="278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/>
            </a:pPr>
            <a:r>
              <a:rPr lang="en-US" sz="1200" b="1" i="1">
                <a:solidFill>
                  <a:srgbClr val="444B57"/>
                </a:solidFill>
                <a:latin typeface="Calibri"/>
              </a:rPr>
              <a:t>Setup: </a:t>
            </a:r>
            <a:r>
              <a:rPr lang="en-US" sz="1200" i="1">
                <a:solidFill>
                  <a:srgbClr val="444B57"/>
                </a:solidFill>
                <a:latin typeface="Calibri"/>
              </a:rPr>
              <a:t>RFOR, shared, Tile Size T= 1024</a:t>
            </a:r>
            <a:endParaRPr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3FC239-7393-457C-9CC3-689C6419CA6F}" type="slidenum">
              <a:rPr lang="en-US"/>
              <a:t>12</a:t>
            </a:fld>
            <a:endParaRPr lang="en-US"/>
          </a:p>
        </p:txBody>
      </p:sp>
      <p:grpSp>
        <p:nvGrpSpPr>
          <p:cNvPr id="30" name="Group 29"/>
          <p:cNvGrpSpPr/>
          <p:nvPr/>
        </p:nvGrpSpPr>
        <p:grpSpPr bwMode="auto">
          <a:xfrm>
            <a:off x="4171380" y="955320"/>
            <a:ext cx="4763639" cy="2603084"/>
            <a:chOff x="4569863" y="387368"/>
            <a:chExt cx="4368630" cy="2275666"/>
          </a:xfrm>
        </p:grpSpPr>
        <p:pic>
          <p:nvPicPr>
            <p:cNvPr id="22" name="Picture 21" descr="A graph with numbers and a bar&#10;&#10;AI-generated content may be incorrect.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3503"/>
            <a:stretch/>
          </p:blipFill>
          <p:spPr bwMode="auto">
            <a:xfrm>
              <a:off x="4569863" y="1220942"/>
              <a:ext cx="4368630" cy="1442092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 bwMode="auto">
            <a:xfrm>
              <a:off x="7481392" y="387368"/>
              <a:ext cx="14013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1200">
                  <a:solidFill>
                    <a:schemeClr val="accent1">
                      <a:lumMod val="75000"/>
                    </a:schemeClr>
                  </a:solidFill>
                  <a:latin typeface="+mn-lt"/>
                </a:rPr>
                <a:t>Q1.1: 4 cols, 0 joins</a:t>
              </a:r>
              <a:endParaRPr/>
            </a:p>
            <a:p>
              <a:pPr>
                <a:defRPr/>
              </a:pPr>
              <a:r>
                <a:rPr lang="en-US" sz="1200">
                  <a:solidFill>
                    <a:schemeClr val="accent1">
                      <a:lumMod val="75000"/>
                    </a:schemeClr>
                  </a:solidFill>
                  <a:latin typeface="+mn-lt"/>
                </a:rPr>
                <a:t>Q4.1: 6 cols, 4 joins</a:t>
              </a:r>
              <a:endParaRPr/>
            </a:p>
          </p:txBody>
        </p:sp>
        <p:sp>
          <p:nvSpPr>
            <p:cNvPr id="7" name="5-Point Star 6"/>
            <p:cNvSpPr/>
            <p:nvPr/>
          </p:nvSpPr>
          <p:spPr bwMode="auto">
            <a:xfrm>
              <a:off x="8210744" y="1540543"/>
              <a:ext cx="144980" cy="15162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FFF00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5-Point Star 8"/>
            <p:cNvSpPr/>
            <p:nvPr/>
          </p:nvSpPr>
          <p:spPr bwMode="auto">
            <a:xfrm flipV="1">
              <a:off x="5553781" y="2207326"/>
              <a:ext cx="184867" cy="146991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FFF00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38" name="Group 37"/>
          <p:cNvGrpSpPr/>
          <p:nvPr/>
        </p:nvGrpSpPr>
        <p:grpSpPr bwMode="auto">
          <a:xfrm>
            <a:off x="92763" y="1990253"/>
            <a:ext cx="4080161" cy="1162993"/>
            <a:chOff x="168859" y="2283586"/>
            <a:chExt cx="4080161" cy="1162993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662075" y="2283586"/>
              <a:ext cx="358694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sz="4800">
                  <a:solidFill>
                    <a:schemeClr val="tx2">
                      <a:lumMod val="50000"/>
                    </a:schemeClr>
                  </a:solidFill>
                  <a:latin typeface="+mn-lt"/>
                </a:rPr>
                <a:t>T = TPB X IPT</a:t>
              </a:r>
              <a:endParaRPr/>
            </a:p>
          </p:txBody>
        </p:sp>
        <p:sp>
          <p:nvSpPr>
            <p:cNvPr id="32" name="TextBox 31"/>
            <p:cNvSpPr txBox="1"/>
            <p:nvPr/>
          </p:nvSpPr>
          <p:spPr bwMode="auto">
            <a:xfrm>
              <a:off x="168859" y="2976083"/>
              <a:ext cx="13276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1200">
                  <a:solidFill>
                    <a:srgbClr val="0C7096"/>
                  </a:solidFill>
                </a:rPr>
                <a:t>Fixed chunk size</a:t>
              </a:r>
              <a:endParaRPr/>
            </a:p>
            <a:p>
              <a:pPr algn="ctr">
                <a:defRPr/>
              </a:pPr>
              <a:r>
                <a:rPr lang="en-US" sz="1200">
                  <a:solidFill>
                    <a:srgbClr val="0C7096"/>
                  </a:solidFill>
                </a:rPr>
                <a:t>(Tile-Size)</a:t>
              </a:r>
              <a:endParaRPr/>
            </a:p>
          </p:txBody>
        </p:sp>
        <p:sp>
          <p:nvSpPr>
            <p:cNvPr id="33" name="TextBox 32"/>
            <p:cNvSpPr txBox="1"/>
            <p:nvPr/>
          </p:nvSpPr>
          <p:spPr bwMode="auto">
            <a:xfrm>
              <a:off x="1316736" y="2984914"/>
              <a:ext cx="155042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US" sz="1200">
                  <a:solidFill>
                    <a:srgbClr val="0C7096"/>
                  </a:solidFill>
                </a:rPr>
                <a:t>Thread count</a:t>
              </a:r>
              <a:endParaRPr/>
            </a:p>
            <a:p>
              <a:pPr algn="ctr">
                <a:defRPr/>
              </a:pPr>
              <a:r>
                <a:rPr lang="en-US" sz="1200">
                  <a:solidFill>
                    <a:srgbClr val="0C7096"/>
                  </a:solidFill>
                </a:rPr>
                <a:t>(Threads Per Block)</a:t>
              </a:r>
              <a:endParaRPr/>
            </a:p>
          </p:txBody>
        </p:sp>
        <p:sp>
          <p:nvSpPr>
            <p:cNvPr id="34" name="TextBox 33"/>
            <p:cNvSpPr txBox="1"/>
            <p:nvPr/>
          </p:nvSpPr>
          <p:spPr bwMode="auto">
            <a:xfrm>
              <a:off x="2795344" y="2984914"/>
              <a:ext cx="135485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US" sz="1200">
                  <a:solidFill>
                    <a:srgbClr val="0C7096"/>
                  </a:solidFill>
                </a:rPr>
                <a:t>Work Per Thread</a:t>
              </a:r>
              <a:endParaRPr/>
            </a:p>
            <a:p>
              <a:pPr algn="ctr">
                <a:defRPr/>
              </a:pPr>
              <a:r>
                <a:rPr lang="en-US" sz="1200">
                  <a:solidFill>
                    <a:srgbClr val="0C7096"/>
                  </a:solidFill>
                </a:rPr>
                <a:t>(Int Per Thread)</a:t>
              </a:r>
              <a:endParaRPr/>
            </a:p>
          </p:txBody>
        </p:sp>
      </p:grpSp>
      <p:pic>
        <p:nvPicPr>
          <p:cNvPr id="827033567" name="Picture 82703356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1915824" y="3817408"/>
            <a:ext cx="4857530" cy="13260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 advTm="121572"/>
    </mc:Choice>
    <mc:Fallback xmlns:w="http://schemas.openxmlformats.org/wordprocessingml/2006/main" xmlns:m="http://schemas.openxmlformats.org/officeDocument/2006/math" xmlns="">
      <p:transition advClick="1" advTm="1215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5" name="TextBox 4"/>
          <p:cNvSpPr txBox="1"/>
          <p:nvPr/>
        </p:nvSpPr>
        <p:spPr bwMode="auto">
          <a:xfrm>
            <a:off x="480060" y="507492"/>
            <a:ext cx="464820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r>
              <a:rPr lang="en-US" sz="2250" b="1">
                <a:solidFill>
                  <a:srgbClr val="1A1A2E"/>
                </a:solidFill>
                <a:latin typeface="Calibri"/>
              </a:rPr>
              <a:t>Tile Configuration: Work Per Thread</a:t>
            </a:r>
            <a:endParaRPr sz="2250" b="1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493776" y="1110996"/>
            <a:ext cx="1645920" cy="28575"/>
          </a:xfrm>
          <a:prstGeom prst="rect">
            <a:avLst/>
          </a:prstGeom>
          <a:solidFill>
            <a:srgbClr val="B5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600"/>
          </a:p>
        </p:txBody>
      </p:sp>
      <p:sp>
        <p:nvSpPr>
          <p:cNvPr id="58" name="TextBox 57"/>
          <p:cNvSpPr txBox="1"/>
          <p:nvPr/>
        </p:nvSpPr>
        <p:spPr bwMode="auto">
          <a:xfrm>
            <a:off x="379192" y="851994"/>
            <a:ext cx="2645948" cy="278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/>
            </a:pPr>
            <a:r>
              <a:rPr lang="en-US" sz="1200" b="1" i="1">
                <a:solidFill>
                  <a:srgbClr val="444B57"/>
                </a:solidFill>
                <a:latin typeface="Calibri"/>
              </a:rPr>
              <a:t>Setup: </a:t>
            </a:r>
            <a:r>
              <a:rPr lang="en-US" sz="1200" i="1">
                <a:solidFill>
                  <a:srgbClr val="444B57"/>
                </a:solidFill>
                <a:latin typeface="Calibri"/>
              </a:rPr>
              <a:t>RFOR, shared, Tile Size T= 1024</a:t>
            </a:r>
            <a:endParaRPr/>
          </a:p>
        </p:txBody>
      </p:sp>
      <p:sp>
        <p:nvSpPr>
          <p:cNvPr id="14" name="TextBox 13"/>
          <p:cNvSpPr txBox="1"/>
          <p:nvPr/>
        </p:nvSpPr>
        <p:spPr bwMode="auto">
          <a:xfrm>
            <a:off x="707886" y="4245814"/>
            <a:ext cx="77239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>
                <a:solidFill>
                  <a:srgbClr val="C00000"/>
                </a:solidFill>
              </a:rPr>
              <a:t>High work-per-thread is free lunch on simple queries but causes slowdown for complex queries</a:t>
            </a:r>
            <a:endParaRPr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3FC239-7393-457C-9CC3-689C6419CA6F}" type="slidenum">
              <a:rPr lang="en-US"/>
              <a:t>13</a:t>
            </a:fld>
            <a:endParaRPr lang="en-US"/>
          </a:p>
        </p:txBody>
      </p:sp>
      <p:grpSp>
        <p:nvGrpSpPr>
          <p:cNvPr id="27" name="Group 26"/>
          <p:cNvGrpSpPr/>
          <p:nvPr/>
        </p:nvGrpSpPr>
        <p:grpSpPr bwMode="auto">
          <a:xfrm>
            <a:off x="379192" y="2158904"/>
            <a:ext cx="4147094" cy="1286718"/>
            <a:chOff x="422769" y="2858326"/>
            <a:chExt cx="4147094" cy="1286718"/>
          </a:xfrm>
        </p:grpSpPr>
        <p:sp>
          <p:nvSpPr>
            <p:cNvPr id="21" name="Rounded Rectangle 20"/>
            <p:cNvSpPr/>
            <p:nvPr/>
          </p:nvSpPr>
          <p:spPr bwMode="auto">
            <a:xfrm>
              <a:off x="422769" y="2858326"/>
              <a:ext cx="4147094" cy="1286718"/>
            </a:xfrm>
            <a:prstGeom prst="roundRect">
              <a:avLst>
                <a:gd name="adj" fmla="val 16667"/>
              </a:avLst>
            </a:prstGeom>
            <a:solidFill>
              <a:srgbClr val="F4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1050"/>
            </a:p>
          </p:txBody>
        </p:sp>
        <p:sp>
          <p:nvSpPr>
            <p:cNvPr id="8" name="TextBox 7"/>
            <p:cNvSpPr txBox="1"/>
            <p:nvPr/>
          </p:nvSpPr>
          <p:spPr bwMode="auto">
            <a:xfrm>
              <a:off x="472769" y="2973097"/>
              <a:ext cx="38209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i="1">
                  <a:solidFill>
                    <a:schemeClr val="tx1"/>
                  </a:solidFill>
                  <a:latin typeface="+mn-lt"/>
                </a:rPr>
                <a:t>Q1.1(Simple Scan): Zero Spill anyways High IPT is a free lunch.</a:t>
              </a:r>
              <a:endParaRPr/>
            </a:p>
          </p:txBody>
        </p:sp>
        <p:sp>
          <p:nvSpPr>
            <p:cNvPr id="18" name="TextBox 17"/>
            <p:cNvSpPr txBox="1"/>
            <p:nvPr/>
          </p:nvSpPr>
          <p:spPr bwMode="auto">
            <a:xfrm>
              <a:off x="465478" y="3509284"/>
              <a:ext cx="38209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i="1">
                  <a:solidFill>
                    <a:schemeClr val="tx1"/>
                  </a:solidFill>
                  <a:latin typeface="+mn-lt"/>
                </a:rPr>
                <a:t>Q4.1(Join Heavy): Already high reg count  high IPT, Causes more reg spills  slowdown </a:t>
              </a:r>
              <a:endParaRPr/>
            </a:p>
          </p:txBody>
        </p:sp>
      </p:grpSp>
      <p:pic>
        <p:nvPicPr>
          <p:cNvPr id="20" name="Picture 19" descr="A graph with numbers and letters&#10;&#10;AI-generated content may be incorrect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4576286" y="2498866"/>
            <a:ext cx="4368630" cy="1659541"/>
          </a:xfrm>
          <a:prstGeom prst="rect">
            <a:avLst/>
          </a:prstGeom>
        </p:spPr>
      </p:pic>
      <p:grpSp>
        <p:nvGrpSpPr>
          <p:cNvPr id="30" name="Group 29"/>
          <p:cNvGrpSpPr/>
          <p:nvPr/>
        </p:nvGrpSpPr>
        <p:grpSpPr bwMode="auto">
          <a:xfrm>
            <a:off x="4576286" y="523428"/>
            <a:ext cx="4368630" cy="2022620"/>
            <a:chOff x="4569863" y="640414"/>
            <a:chExt cx="4368630" cy="2022620"/>
          </a:xfrm>
        </p:grpSpPr>
        <p:pic>
          <p:nvPicPr>
            <p:cNvPr id="22" name="Picture 21" descr="A graph with numbers and a bar&#10;&#10;AI-generated content may be incorrect.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3503"/>
            <a:stretch/>
          </p:blipFill>
          <p:spPr bwMode="auto">
            <a:xfrm>
              <a:off x="4569863" y="1220942"/>
              <a:ext cx="4368630" cy="1442092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 bwMode="auto">
            <a:xfrm>
              <a:off x="7537147" y="640414"/>
              <a:ext cx="14013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1200">
                  <a:solidFill>
                    <a:schemeClr val="accent1">
                      <a:lumMod val="75000"/>
                    </a:schemeClr>
                  </a:solidFill>
                  <a:latin typeface="+mn-lt"/>
                </a:rPr>
                <a:t>Q1.1: 4 cols, 0 joins</a:t>
              </a:r>
              <a:endParaRPr/>
            </a:p>
            <a:p>
              <a:pPr>
                <a:defRPr/>
              </a:pPr>
              <a:r>
                <a:rPr lang="en-US" sz="1200">
                  <a:solidFill>
                    <a:schemeClr val="accent1">
                      <a:lumMod val="75000"/>
                    </a:schemeClr>
                  </a:solidFill>
                  <a:latin typeface="+mn-lt"/>
                </a:rPr>
                <a:t>Q4.1: 6 cols, 4 joins</a:t>
              </a:r>
              <a:endParaRPr/>
            </a:p>
          </p:txBody>
        </p:sp>
        <p:sp>
          <p:nvSpPr>
            <p:cNvPr id="7" name="5-Point Star 6"/>
            <p:cNvSpPr/>
            <p:nvPr/>
          </p:nvSpPr>
          <p:spPr bwMode="auto">
            <a:xfrm>
              <a:off x="8210744" y="1540543"/>
              <a:ext cx="144980" cy="15162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FFF00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5-Point Star 8"/>
            <p:cNvSpPr/>
            <p:nvPr/>
          </p:nvSpPr>
          <p:spPr bwMode="auto">
            <a:xfrm flipV="1">
              <a:off x="5553781" y="2207326"/>
              <a:ext cx="184867" cy="146991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FFF00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 advTm="60252"/>
    </mc:Choice>
    <mc:Fallback xmlns:w="http://schemas.openxmlformats.org/wordprocessingml/2006/main" xmlns:m="http://schemas.openxmlformats.org/officeDocument/2006/math" xmlns="">
      <p:transition advClick="1" advTm="602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1" y="0"/>
            <a:ext cx="9143771" cy="5143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5" name="TextBox 4"/>
          <p:cNvSpPr txBox="1"/>
          <p:nvPr/>
        </p:nvSpPr>
        <p:spPr bwMode="auto">
          <a:xfrm>
            <a:off x="480060" y="507492"/>
            <a:ext cx="822960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r>
              <a:rPr lang="en-US" sz="2250" b="1">
                <a:solidFill>
                  <a:srgbClr val="1A1A2E"/>
                </a:solidFill>
                <a:latin typeface="Calibri"/>
              </a:rPr>
              <a:t>Query Execution time VS Memory Footprint</a:t>
            </a:r>
            <a:endParaRPr sz="2250" b="1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493776" y="1110996"/>
            <a:ext cx="1645920" cy="28575"/>
          </a:xfrm>
          <a:prstGeom prst="rect">
            <a:avLst/>
          </a:prstGeom>
          <a:solidFill>
            <a:srgbClr val="B5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3FC239-7393-457C-9CC3-689C6419CA6F}" type="slidenum">
              <a:rPr lang="en-US"/>
              <a:t>14</a:t>
            </a:fld>
            <a:endParaRPr lang="en-US"/>
          </a:p>
        </p:txBody>
      </p:sp>
      <p:pic>
        <p:nvPicPr>
          <p:cNvPr id="9" name="Picture 8" descr="A graph of a number of numbers and a number of red and green squares&#10;&#10;AI-generated content may be incorrect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4065080" y="1413138"/>
            <a:ext cx="4585144" cy="25726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 bwMode="auto">
          <a:xfrm>
            <a:off x="1120644" y="4210299"/>
            <a:ext cx="69024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000" b="1">
                <a:solidFill>
                  <a:srgbClr val="C00000"/>
                </a:solidFill>
                <a:latin typeface="Calibri"/>
              </a:rPr>
              <a:t>Fused decompression </a:t>
            </a:r>
            <a:r>
              <a:rPr lang="en-US" sz="2000">
                <a:solidFill>
                  <a:srgbClr val="C00000"/>
                </a:solidFill>
                <a:latin typeface="Calibri"/>
              </a:rPr>
              <a:t>beats pre-decom on memory with </a:t>
            </a:r>
            <a:r>
              <a:rPr lang="en-US" sz="2000" b="1">
                <a:solidFill>
                  <a:srgbClr val="C00000"/>
                </a:solidFill>
                <a:latin typeface="Calibri"/>
              </a:rPr>
              <a:t>equal or faster </a:t>
            </a:r>
            <a:r>
              <a:rPr lang="en-US" sz="2000">
                <a:solidFill>
                  <a:srgbClr val="C00000"/>
                </a:solidFill>
                <a:latin typeface="Calibri"/>
              </a:rPr>
              <a:t>query speed</a:t>
            </a:r>
            <a:endParaRPr lang="en-US" sz="2000">
              <a:solidFill>
                <a:srgbClr val="C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377571" y="1791527"/>
            <a:ext cx="339432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400">
                <a:solidFill>
                  <a:srgbClr val="1A6B3A"/>
                </a:solidFill>
                <a:latin typeface="Calibri"/>
              </a:rPr>
              <a:t>Fused sits bottom-left</a:t>
            </a:r>
            <a:r>
              <a:rPr lang="en-US" sz="1400">
                <a:latin typeface="Calibri"/>
              </a:rPr>
              <a:t> — lowest memory footprint AND faster/comparable speed.</a:t>
            </a:r>
            <a:endParaRPr/>
          </a:p>
          <a:p>
            <a:pPr>
              <a:defRPr/>
            </a:pPr>
            <a:endParaRPr lang="en-US" sz="1400">
              <a:latin typeface="Calibri"/>
            </a:endParaRPr>
          </a:p>
          <a:p>
            <a:pPr>
              <a:defRPr/>
            </a:pPr>
            <a:r>
              <a:rPr lang="en-US" sz="1400">
                <a:solidFill>
                  <a:srgbClr val="C00000"/>
                </a:solidFill>
                <a:latin typeface="Calibri"/>
              </a:rPr>
              <a:t>Pre-decom sits top-right</a:t>
            </a:r>
            <a:r>
              <a:rPr lang="en-US" sz="1400">
                <a:latin typeface="Calibri"/>
              </a:rPr>
              <a:t> — high memory use AND slower.</a:t>
            </a:r>
            <a:endParaRPr/>
          </a:p>
          <a:p>
            <a:pPr>
              <a:defRPr/>
            </a:pPr>
            <a:endParaRPr lang="en-US" sz="1400">
              <a:latin typeface="Calibri"/>
            </a:endParaRPr>
          </a:p>
          <a:p>
            <a:pPr>
              <a:defRPr/>
            </a:pPr>
            <a:r>
              <a:rPr lang="en-US" sz="1400" i="1">
                <a:latin typeface="Calibri"/>
              </a:rPr>
              <a:t>Speed: </a:t>
            </a:r>
            <a:r>
              <a:rPr lang="en-US" sz="1400" i="1">
                <a:solidFill>
                  <a:srgbClr val="1A6B3A"/>
                </a:solidFill>
                <a:latin typeface="Calibri"/>
              </a:rPr>
              <a:t>FLBP wins</a:t>
            </a:r>
            <a:r>
              <a:rPr lang="en-US" sz="1400" i="1">
                <a:latin typeface="Calibri"/>
              </a:rPr>
              <a:t> (faster decode)</a:t>
            </a:r>
            <a:endParaRPr/>
          </a:p>
          <a:p>
            <a:pPr>
              <a:defRPr/>
            </a:pPr>
            <a:r>
              <a:rPr lang="en-US" sz="1400" i="1">
                <a:latin typeface="Calibri"/>
              </a:rPr>
              <a:t>Footprint: </a:t>
            </a:r>
            <a:r>
              <a:rPr lang="en-US" sz="1400" i="1">
                <a:solidFill>
                  <a:srgbClr val="1A6B3A"/>
                </a:solidFill>
                <a:latin typeface="Calibri"/>
              </a:rPr>
              <a:t>RFOR wins</a:t>
            </a:r>
            <a:r>
              <a:rPr lang="en-US" sz="1400" i="1">
                <a:latin typeface="Calibri"/>
              </a:rPr>
              <a:t> (better compression)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 advTm="2430"/>
    </mc:Choice>
    <mc:Fallback xmlns:w="http://schemas.openxmlformats.org/wordprocessingml/2006/main" xmlns:m="http://schemas.openxmlformats.org/officeDocument/2006/math" xmlns="">
      <p:transition advClick="1" advTm="24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1" y="0"/>
            <a:ext cx="9143771" cy="5143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5" name="TextBox 4"/>
          <p:cNvSpPr txBox="1"/>
          <p:nvPr/>
        </p:nvSpPr>
        <p:spPr bwMode="auto">
          <a:xfrm>
            <a:off x="493776" y="626696"/>
            <a:ext cx="1411561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r>
              <a:rPr lang="en-US" sz="2250" b="1">
                <a:solidFill>
                  <a:srgbClr val="1A1A2E"/>
                </a:solidFill>
                <a:latin typeface="+mn-lt"/>
              </a:rPr>
              <a:t>Conclusion</a:t>
            </a:r>
            <a:endParaRPr sz="2250" b="1">
              <a:solidFill>
                <a:srgbClr val="1A1A2E"/>
              </a:solidFill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493776" y="1110996"/>
            <a:ext cx="1645920" cy="28575"/>
          </a:xfrm>
          <a:prstGeom prst="rect">
            <a:avLst/>
          </a:prstGeom>
          <a:solidFill>
            <a:srgbClr val="B5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12" name="TextBox 11"/>
          <p:cNvSpPr txBox="1"/>
          <p:nvPr/>
        </p:nvSpPr>
        <p:spPr bwMode="auto">
          <a:xfrm>
            <a:off x="493776" y="3680678"/>
            <a:ext cx="7674864" cy="8361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975"/>
              </a:spcAft>
              <a:buFont typeface="Arial"/>
              <a:buChar char="•"/>
              <a:defRPr/>
            </a:pPr>
            <a:r>
              <a:rPr lang="en-US" sz="1600">
                <a:solidFill>
                  <a:srgbClr val="C00000"/>
                </a:solidFill>
                <a:latin typeface="+mn-lt"/>
              </a:rPr>
              <a:t>Workload-aware Fusion - </a:t>
            </a:r>
            <a:r>
              <a:rPr lang="en-US">
                <a:solidFill>
                  <a:srgbClr val="1A1A2E"/>
                </a:solidFill>
                <a:latin typeface="+mn-lt"/>
              </a:rPr>
              <a:t>Dynamically select of decode placement and tile configuration from query shape and workload</a:t>
            </a:r>
            <a:endParaRPr lang="en-US">
              <a:solidFill>
                <a:srgbClr val="C00000"/>
              </a:solidFill>
              <a:latin typeface="+mn-lt"/>
            </a:endParaRPr>
          </a:p>
          <a:p>
            <a:pPr marL="285750" indent="-285750">
              <a:spcAft>
                <a:spcPts val="975"/>
              </a:spcAft>
              <a:buFont typeface="Arial"/>
              <a:buChar char="•"/>
              <a:defRPr/>
            </a:pPr>
            <a:r>
              <a:rPr lang="en-US" sz="1600">
                <a:solidFill>
                  <a:srgbClr val="C00000"/>
                </a:solidFill>
                <a:latin typeface="+mn-lt"/>
              </a:rPr>
              <a:t>More codecs – </a:t>
            </a:r>
            <a:r>
              <a:rPr lang="en-US">
                <a:solidFill>
                  <a:schemeClr val="tx1"/>
                </a:solidFill>
                <a:latin typeface="+mn-lt"/>
              </a:rPr>
              <a:t>Extending support to Floats, strings and other datatypes</a:t>
            </a:r>
            <a:endParaRPr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3FC239-7393-457C-9CC3-689C6419CA6F}" type="slidenum">
              <a:rPr lang="en-US">
                <a:latin typeface="+mn-lt"/>
              </a:rPr>
              <a:t>15</a:t>
            </a:fld>
            <a:endParaRPr lang="en-US">
              <a:latin typeface="+mn-lt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493776" y="3451849"/>
            <a:ext cx="1645920" cy="28575"/>
          </a:xfrm>
          <a:prstGeom prst="rect">
            <a:avLst/>
          </a:prstGeom>
          <a:solidFill>
            <a:srgbClr val="B5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50"/>
          </a:p>
        </p:txBody>
      </p:sp>
      <p:sp>
        <p:nvSpPr>
          <p:cNvPr id="13" name="TextBox 12"/>
          <p:cNvSpPr txBox="1"/>
          <p:nvPr/>
        </p:nvSpPr>
        <p:spPr bwMode="auto">
          <a:xfrm>
            <a:off x="493776" y="2970152"/>
            <a:ext cx="1844331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/>
            </a:pPr>
            <a:r>
              <a:rPr lang="en-US" sz="2250" b="1">
                <a:solidFill>
                  <a:srgbClr val="1A1A2E"/>
                </a:solidFill>
                <a:latin typeface="+mn-lt"/>
              </a:rPr>
              <a:t>Future Work</a:t>
            </a:r>
            <a:endParaRPr sz="2250" b="1">
              <a:solidFill>
                <a:srgbClr val="1A1A2E"/>
              </a:solidFill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493776" y="1339825"/>
            <a:ext cx="7877707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600" b="1">
                <a:solidFill>
                  <a:srgbClr val="C00000"/>
                </a:solidFill>
                <a:latin typeface="Calibri"/>
              </a:rPr>
              <a:t>Q1  </a:t>
            </a:r>
            <a:r>
              <a:rPr lang="en-US" sz="1600">
                <a:solidFill>
                  <a:srgbClr val="C00000"/>
                </a:solidFill>
                <a:latin typeface="Calibri"/>
              </a:rPr>
              <a:t>Is fused decompression always better?</a:t>
            </a:r>
            <a:endParaRPr/>
          </a:p>
          <a:p>
            <a:pPr>
              <a:defRPr/>
            </a:pPr>
            <a:r>
              <a:rPr lang="en-US" sz="1600">
                <a:latin typeface="Calibri"/>
              </a:rPr>
              <a:t>→  </a:t>
            </a:r>
            <a:r>
              <a:rPr lang="en-US" sz="1600" b="1">
                <a:solidFill>
                  <a:srgbClr val="00B050"/>
                </a:solidFill>
                <a:latin typeface="Calibri"/>
              </a:rPr>
              <a:t>Yes. </a:t>
            </a:r>
            <a:r>
              <a:rPr lang="en-US" sz="1600">
                <a:latin typeface="Calibri"/>
              </a:rPr>
              <a:t>Smaller memory footprint, equal or faster query speed.</a:t>
            </a:r>
            <a:endParaRPr/>
          </a:p>
          <a:p>
            <a:pPr>
              <a:defRPr/>
            </a:pPr>
            <a:endParaRPr lang="en-US" sz="1600">
              <a:latin typeface="Calibri"/>
            </a:endParaRPr>
          </a:p>
          <a:p>
            <a:pPr>
              <a:defRPr/>
            </a:pPr>
            <a:r>
              <a:rPr lang="en-US" sz="1600" b="1">
                <a:solidFill>
                  <a:srgbClr val="C00000"/>
                </a:solidFill>
                <a:latin typeface="Calibri"/>
              </a:rPr>
              <a:t>Q2  </a:t>
            </a:r>
            <a:r>
              <a:rPr lang="en-US" sz="1600">
                <a:solidFill>
                  <a:srgbClr val="C00000"/>
                </a:solidFill>
                <a:latin typeface="Calibri"/>
              </a:rPr>
              <a:t>How to choose the best configuration?</a:t>
            </a:r>
            <a:endParaRPr/>
          </a:p>
          <a:p>
            <a:pPr>
              <a:defRPr/>
            </a:pPr>
            <a:r>
              <a:rPr lang="en-US" sz="1600">
                <a:latin typeface="Calibri"/>
              </a:rPr>
              <a:t>→  </a:t>
            </a:r>
            <a:r>
              <a:rPr lang="en-US" sz="1600" b="1">
                <a:latin typeface="Calibri"/>
              </a:rPr>
              <a:t>No single winner. </a:t>
            </a:r>
            <a:r>
              <a:rPr lang="en-US" sz="1600">
                <a:latin typeface="Calibri"/>
              </a:rPr>
              <a:t>Depends on the query.</a:t>
            </a:r>
            <a:endParaRPr/>
          </a:p>
          <a:p>
            <a:pPr>
              <a:defRPr/>
            </a:pPr>
            <a:r>
              <a:rPr lang="en-US" sz="1500" i="1">
                <a:latin typeface="Calibri"/>
              </a:rPr>
              <a:t>   Use </a:t>
            </a:r>
            <a:r>
              <a:rPr lang="en-US" sz="1500" b="1" i="1">
                <a:solidFill>
                  <a:srgbClr val="1A5276"/>
                </a:solidFill>
                <a:latin typeface="Calibri"/>
              </a:rPr>
              <a:t>Register</a:t>
            </a:r>
            <a:r>
              <a:rPr lang="en-US" sz="1500" i="1">
                <a:latin typeface="Calibri"/>
              </a:rPr>
              <a:t> for simple scans  │  Use </a:t>
            </a:r>
            <a:r>
              <a:rPr lang="en-US" sz="1500" b="1" i="1">
                <a:solidFill>
                  <a:srgbClr val="C00000"/>
                </a:solidFill>
                <a:latin typeface="Calibri"/>
              </a:rPr>
              <a:t>Shared</a:t>
            </a:r>
            <a:r>
              <a:rPr lang="en-US" sz="1500" i="1">
                <a:latin typeface="Calibri"/>
              </a:rPr>
              <a:t> when joins dominate.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0" advTm="22945"/>
    </mc:Choice>
    <mc:Fallback xmlns:w="http://schemas.openxmlformats.org/wordprocessingml/2006/main" xmlns:m="http://schemas.openxmlformats.org/officeDocument/2006/math" xmlns="">
      <p:transition advClick="1" advTm="22945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1" y="0"/>
            <a:ext cx="9143771" cy="5143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5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1" y="0"/>
            <a:ext cx="9143771" cy="1508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5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1" y="4992624"/>
            <a:ext cx="9143771" cy="15087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50">
              <a:solidFill>
                <a:srgbClr val="C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605790" y="2229456"/>
            <a:ext cx="3496916" cy="930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defRPr/>
            </a:pPr>
            <a:r>
              <a:rPr sz="6000" b="1">
                <a:solidFill>
                  <a:srgbClr val="C00000"/>
                </a:solidFill>
                <a:latin typeface="Calibri"/>
              </a:rPr>
              <a:t>Thank you</a:t>
            </a:r>
            <a:endParaRPr/>
          </a:p>
        </p:txBody>
      </p:sp>
      <p:sp>
        <p:nvSpPr>
          <p:cNvPr id="6" name="Rectangle 5"/>
          <p:cNvSpPr/>
          <p:nvPr/>
        </p:nvSpPr>
        <p:spPr bwMode="auto">
          <a:xfrm>
            <a:off x="651510" y="2400300"/>
            <a:ext cx="2057400" cy="333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050">
              <a:solidFill>
                <a:srgbClr val="C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651510" y="3240885"/>
            <a:ext cx="3451196" cy="7907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25"/>
              </a:spcAft>
              <a:defRPr/>
            </a:pPr>
            <a:r>
              <a:rPr sz="3200" b="1">
                <a:solidFill>
                  <a:srgbClr val="C00000"/>
                </a:solidFill>
                <a:latin typeface="Calibri"/>
              </a:rPr>
              <a:t>Questions?</a:t>
            </a:r>
            <a:endParaRPr/>
          </a:p>
          <a:p>
            <a:pPr>
              <a:lnSpc>
                <a:spcPct val="105000"/>
              </a:lnSpc>
              <a:spcAft>
                <a:spcPts val="225"/>
              </a:spcAft>
              <a:defRPr/>
            </a:pPr>
            <a:r>
              <a:rPr sz="1600">
                <a:solidFill>
                  <a:srgbClr val="C00000"/>
                </a:solidFill>
                <a:latin typeface="Calibri"/>
              </a:rPr>
              <a:t>Ananya Gupta</a:t>
            </a:r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43FC239-7393-457C-9CC3-689C6419CA6F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Default Design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818</TotalTime>
  <Words>961</Words>
  <Application>Microsoft Macintosh PowerPoint</Application>
  <DocSecurity>0</DocSecurity>
  <PresentationFormat>On-screen Show (16:9)</PresentationFormat>
  <Paragraphs>149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Wingdings</vt:lpstr>
      <vt:lpstr>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Accelerated data management systems through real-time specialization</dc:title>
  <dc:subject/>
  <dc:creator>Ailamaki Anastasia</dc:creator>
  <cp:keywords/>
  <dc:description/>
  <cp:lastModifiedBy>Ananya Gupta</cp:lastModifiedBy>
  <cp:revision>133</cp:revision>
  <dcterms:modified xsi:type="dcterms:W3CDTF">2026-06-29T21:30:37Z</dcterms:modified>
  <cp:category/>
  <dc:identifier/>
  <cp:contentStatus/>
  <dc:language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0x0101005FB099427ECDE546BB361AD68BCE7436</vt:lpwstr>
  </property>
</Properties>
</file>